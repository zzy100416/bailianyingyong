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  <a:t>2024/8/14</a:t>
            </a:r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" name="AutoShape 3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" name="AutoShape 4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>
            <p:ph type="body" sz="quarter" idx="13" hasCustomPrompt="1"/>
          </p:nvPr>
        </p:nvSpPr>
        <p:spPr>
          <a:xfrm>
            <a:off x="9548923" y="5837829"/>
            <a:ext cx="1969977" cy="296271"/>
          </a:xfrm>
        </p:spPr>
        <p:txBody>
          <a:bodyPr vert="horz" lIns="91440" tIns="45720" rIns="91440" bIns="45720" anchor="ctr">
            <a:normAutofit/>
          </a:bodyPr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1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Speaker name and title</a:t>
            </a:r>
            <a:endParaRPr lang="en-US" sz="11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5" hasCustomPrompt="1"/>
          </p:nvPr>
        </p:nvSpPr>
        <p:spPr>
          <a:xfrm>
            <a:off x="660400" y="723900"/>
            <a:ext cx="1039091" cy="296271"/>
          </a:xfrm>
        </p:spPr>
        <p:txBody>
          <a:bodyPr vert="horz" wrap="none" lIns="91440" tIns="45720" rIns="91440" bIns="45720" anchor="ctr">
            <a:normAutofit/>
          </a:bodyPr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LGOO HERE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AutoShape 5"/>
          <p:cNvSpPr/>
          <p:nvPr>
            <p:ph type="ctrTitle" hasCustomPrompt="1"/>
          </p:nvPr>
        </p:nvSpPr>
        <p:spPr>
          <a:xfrm>
            <a:off x="660400" y="2398699"/>
            <a:ext cx="10858500" cy="1311128"/>
          </a:xfrm>
        </p:spPr>
        <p:txBody>
          <a:bodyPr vert="horz" lIns="91440" tIns="45720" rIns="91440" bIns="45720" anchor="b">
            <a:sp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</a:t>
            </a:r>
            <a:br>
              <a:rPr lang="en-US" sz="4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</a:br>
            <a:r>
              <a:rPr lang="en-US" sz="4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title style</a:t>
            </a:r>
            <a:endParaRPr lang="en-US" sz="4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AutoShape 6"/>
          <p:cNvSpPr/>
          <p:nvPr>
            <p:ph type="subTitle" idx="1"/>
          </p:nvPr>
        </p:nvSpPr>
        <p:spPr>
          <a:xfrm>
            <a:off x="4445003" y="3891473"/>
            <a:ext cx="3289294" cy="55879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C7767"/>
              </a:gs>
              <a:gs pos="100000">
                <a:srgbClr val="7BBB79"/>
              </a:gs>
            </a:gsLst>
          </a:gradFill>
          <a:effectLst>
            <a:outerShdw blurRad="50800" dist="38100" dir="2700000" algn="tl" rotWithShape="0">
              <a:srgbClr val="37A897">
                <a:alpha val="40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228600" indent="-228600" algn="ctr">
              <a:lnSpc>
                <a:spcPct val="90000"/>
              </a:lnSpc>
              <a:spcBef>
                <a:spcPct val="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Click to edit Master subtitle style</a:t>
            </a:r>
            <a:endParaRPr lang="en-US" sz="1400" b="0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382738" y="746980"/>
            <a:ext cx="1148862" cy="278234"/>
            <a:chOff x="10893424" y="675663"/>
            <a:chExt cx="625476" cy="151479"/>
          </a:xfrm>
        </p:grpSpPr>
        <p:sp>
          <p:nvSpPr>
            <p:cNvPr id="8" name="AutoShape 8"/>
            <p:cNvSpPr/>
            <p:nvPr/>
          </p:nvSpPr>
          <p:spPr>
            <a:xfrm>
              <a:off x="10893424" y="675663"/>
              <a:ext cx="625475" cy="151479"/>
            </a:xfrm>
            <a:prstGeom prst="roundRect">
              <a:avLst>
                <a:gd name="adj" fmla="val 50000"/>
              </a:avLst>
            </a:pr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1367476" y="675663"/>
              <a:ext cx="151424" cy="15147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1431389" y="727806"/>
              <a:ext cx="23597" cy="47194"/>
              <a:chOff x="5092700" y="4787900"/>
              <a:chExt cx="228600" cy="457200"/>
            </a:xfrm>
          </p:grpSpPr>
          <p:cxnSp>
            <p:nvCxnSpPr>
              <p:cNvPr id="11" name="Connector 11"/>
              <p:cNvCxnSpPr/>
              <p:nvPr/>
            </p:nvCxnSpPr>
            <p:spPr>
              <a:xfrm>
                <a:off x="5092700" y="4787900"/>
                <a:ext cx="228600" cy="228600"/>
              </a:xfrm>
              <a:prstGeom prst="line">
                <a:avLst/>
              </a:prstGeom>
              <a:ln w="12700" cap="sq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id="12" name="Connector 12"/>
              <p:cNvCxnSpPr/>
              <p:nvPr/>
            </p:nvCxnSpPr>
            <p:spPr>
              <a:xfrm flipV="1">
                <a:off x="5092700" y="5016500"/>
                <a:ext cx="228600" cy="228600"/>
              </a:xfrm>
              <a:prstGeom prst="line">
                <a:avLst/>
              </a:prstGeom>
              <a:ln w="12700" cap="sq" cmpd="sng">
                <a:solidFill>
                  <a:schemeClr val="accent1"/>
                </a:solidFill>
                <a:prstDash val="soli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title style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" name="AutoShape 3"/>
          <p:cNvSpPr/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text styles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685800" lvl="1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AutoShape 4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  <a:t>2024/8/14</a:t>
            </a:r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AutoShape 5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6" name="AutoShape 6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4" hasCustomPrompt="1"/>
          </p:nvPr>
        </p:nvSpPr>
        <p:spPr>
          <a:xfrm>
            <a:off x="660400" y="1500188"/>
            <a:ext cx="2836562" cy="594626"/>
          </a:xfrm>
        </p:spPr>
        <p:txBody>
          <a:bodyPr vert="horz" lIns="91440" tIns="45720" rIns="91440" bIns="45720" anchor="t">
            <a:normAutofit/>
          </a:bodyPr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2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CONTENTS</a:t>
            </a:r>
            <a:endParaRPr lang="en-US" sz="2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 vert="horz" lIns="91440" tIns="45720" rIns="91440" bIns="45720" anchor="t">
            <a:normAutofit/>
          </a:bodyPr>
          <a:p>
            <a:pPr marL="342900" indent="-34290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text styles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800100" lvl="1" indent="-342900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257300" lvl="2" indent="-342900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AutoShape 4"/>
          <p:cNvSpPr/>
          <p:nvPr>
            <p:ph type="ftr" sz="quarter" idx="10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" name="AutoShape 5"/>
          <p:cNvSpPr/>
          <p:nvPr>
            <p:ph type="dt" sz="half" idx="11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  <a:t>2024/8/14</a:t>
            </a:r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AutoShape 6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382738" y="746980"/>
            <a:ext cx="1148862" cy="278234"/>
            <a:chOff x="10893424" y="675663"/>
            <a:chExt cx="625476" cy="151479"/>
          </a:xfrm>
        </p:grpSpPr>
        <p:sp>
          <p:nvSpPr>
            <p:cNvPr id="4" name="AutoShape 4"/>
            <p:cNvSpPr/>
            <p:nvPr/>
          </p:nvSpPr>
          <p:spPr>
            <a:xfrm>
              <a:off x="10893424" y="675663"/>
              <a:ext cx="625475" cy="151479"/>
            </a:xfrm>
            <a:prstGeom prst="roundRect">
              <a:avLst>
                <a:gd name="adj" fmla="val 50000"/>
              </a:avLst>
            </a:pr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1367476" y="675663"/>
              <a:ext cx="151424" cy="15147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1431389" y="727806"/>
              <a:ext cx="23597" cy="47194"/>
              <a:chOff x="5092700" y="4787900"/>
              <a:chExt cx="228600" cy="457200"/>
            </a:xfrm>
          </p:grpSpPr>
          <p:cxnSp>
            <p:nvCxnSpPr>
              <p:cNvPr id="7" name="Connector 7"/>
              <p:cNvCxnSpPr/>
              <p:nvPr/>
            </p:nvCxnSpPr>
            <p:spPr>
              <a:xfrm>
                <a:off x="5092700" y="4787900"/>
                <a:ext cx="228600" cy="228600"/>
              </a:xfrm>
              <a:prstGeom prst="line">
                <a:avLst/>
              </a:prstGeom>
              <a:ln w="12700" cap="sq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id="8" name="Connector 8"/>
              <p:cNvCxnSpPr/>
              <p:nvPr/>
            </p:nvCxnSpPr>
            <p:spPr>
              <a:xfrm flipV="1">
                <a:off x="5092700" y="5016500"/>
                <a:ext cx="228600" cy="228600"/>
              </a:xfrm>
              <a:prstGeom prst="line">
                <a:avLst/>
              </a:prstGeom>
              <a:ln w="12700" cap="sq" cmpd="sng">
                <a:solidFill>
                  <a:schemeClr val="accent1"/>
                </a:solidFill>
                <a:prstDash val="solid"/>
              </a:ln>
            </p:spPr>
          </p:cxnSp>
        </p:grpSp>
      </p:grpSp>
      <p:sp>
        <p:nvSpPr>
          <p:cNvPr id="9" name="AutoShape 9"/>
          <p:cNvSpPr/>
          <p:nvPr>
            <p:ph type="title"/>
          </p:nvPr>
        </p:nvSpPr>
        <p:spPr>
          <a:xfrm>
            <a:off x="3224068" y="3325377"/>
            <a:ext cx="5731164" cy="424732"/>
          </a:xfrm>
        </p:spPr>
        <p:txBody>
          <a:bodyPr vert="horz" lIns="91440" tIns="45720" rIns="91440" bIns="45720" anchor="b">
            <a:sp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title style</a:t>
            </a:r>
            <a:endParaRPr lang="en-US" sz="2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idx="1"/>
          </p:nvPr>
        </p:nvSpPr>
        <p:spPr>
          <a:xfrm>
            <a:off x="3224068" y="3750109"/>
            <a:ext cx="5731164" cy="258532"/>
          </a:xfrm>
        </p:spPr>
        <p:txBody>
          <a:bodyPr vert="horz" lIns="91440" tIns="45720" rIns="91440" bIns="45720" anchor="t">
            <a:spAutoFit/>
          </a:bodyPr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text styles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AutoShape 11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  <a:t>2024/8/14</a:t>
            </a:r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" name="AutoShape 12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3" name="AutoShape 13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title style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" name="AutoShape 3"/>
          <p:cNvSpPr/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  <a:t>2024/8/14</a:t>
            </a:r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AutoShape 4"/>
          <p:cNvSpPr/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" name="AutoShape 5"/>
          <p:cNvSpPr/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2F2F2F">
                    <a:lumMod val="50000"/>
                    <a:lumOff val="50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zh-CN" altLang="en-US" sz="1000" b="0" i="0" u="none" baseline="0">
              <a:solidFill>
                <a:srgbClr val="2F2F2F">
                  <a:lumMod val="50000"/>
                  <a:lumOff val="50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-121920" y="0"/>
            <a:ext cx="12192000" cy="6858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382738" y="746980"/>
            <a:ext cx="1148862" cy="278234"/>
            <a:chOff x="10893424" y="675663"/>
            <a:chExt cx="625476" cy="151479"/>
          </a:xfrm>
        </p:grpSpPr>
        <p:sp>
          <p:nvSpPr>
            <p:cNvPr id="4" name="AutoShape 4"/>
            <p:cNvSpPr/>
            <p:nvPr/>
          </p:nvSpPr>
          <p:spPr>
            <a:xfrm>
              <a:off x="10893424" y="675663"/>
              <a:ext cx="625475" cy="151479"/>
            </a:xfrm>
            <a:prstGeom prst="roundRect">
              <a:avLst>
                <a:gd name="adj" fmla="val 50000"/>
              </a:avLst>
            </a:pr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1367476" y="675663"/>
              <a:ext cx="151424" cy="151479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1431389" y="727806"/>
              <a:ext cx="23597" cy="47194"/>
              <a:chOff x="5092700" y="4787900"/>
              <a:chExt cx="228600" cy="457200"/>
            </a:xfrm>
          </p:grpSpPr>
          <p:cxnSp>
            <p:nvCxnSpPr>
              <p:cNvPr id="7" name="Connector 7"/>
              <p:cNvCxnSpPr/>
              <p:nvPr/>
            </p:nvCxnSpPr>
            <p:spPr>
              <a:xfrm>
                <a:off x="5092700" y="4787900"/>
                <a:ext cx="228600" cy="228600"/>
              </a:xfrm>
              <a:prstGeom prst="line">
                <a:avLst/>
              </a:prstGeom>
              <a:ln w="12700" cap="sq" cmpd="sng">
                <a:solidFill>
                  <a:schemeClr val="accent1"/>
                </a:solidFill>
                <a:prstDash val="solid"/>
              </a:ln>
            </p:spPr>
          </p:cxnSp>
          <p:cxnSp>
            <p:nvCxnSpPr>
              <p:cNvPr id="8" name="Connector 8"/>
              <p:cNvCxnSpPr/>
              <p:nvPr/>
            </p:nvCxnSpPr>
            <p:spPr>
              <a:xfrm flipV="1">
                <a:off x="5092700" y="5016500"/>
                <a:ext cx="228600" cy="228600"/>
              </a:xfrm>
              <a:prstGeom prst="line">
                <a:avLst/>
              </a:prstGeom>
              <a:ln w="12700" cap="sq" cmpd="sng">
                <a:solidFill>
                  <a:schemeClr val="accent1"/>
                </a:solidFill>
                <a:prstDash val="solid"/>
              </a:ln>
            </p:spPr>
          </p:cxnSp>
        </p:grpSp>
      </p:grpSp>
      <p:sp>
        <p:nvSpPr>
          <p:cNvPr id="9" name="AutoShape 9"/>
          <p:cNvSpPr/>
          <p:nvPr>
            <p:ph type="body" sz="quarter" idx="13"/>
          </p:nvPr>
        </p:nvSpPr>
        <p:spPr>
          <a:xfrm>
            <a:off x="673098" y="3204915"/>
            <a:ext cx="10858500" cy="535531"/>
          </a:xfrm>
        </p:spPr>
        <p:txBody>
          <a:bodyPr vert="horz" lIns="91440" tIns="45720" rIns="91440" bIns="45720" anchor="b">
            <a:spAutoFit/>
          </a:bodyPr>
          <a:p>
            <a:pPr marL="228600" indent="-228600" algn="ctr">
              <a:lnSpc>
                <a:spcPct val="9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text styles</a:t>
            </a:r>
            <a:endParaRPr lang="en-US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sz="quarter" idx="14" hasCustomPrompt="1"/>
          </p:nvPr>
        </p:nvSpPr>
        <p:spPr>
          <a:xfrm>
            <a:off x="6356354" y="5837829"/>
            <a:ext cx="5162546" cy="296271"/>
          </a:xfrm>
        </p:spPr>
        <p:txBody>
          <a:bodyPr vert="horz" lIns="91440" tIns="45720" rIns="91440" bIns="45720" anchor="ctr">
            <a:normAutofit/>
          </a:bodyPr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1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Speaker name and title</a:t>
            </a:r>
            <a:endParaRPr lang="en-US" sz="11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8">
            <a:alphaModFix amt="20000"/>
          </a:blip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title style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p>
            <a:pPr marL="228600" indent="-228600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edit Master text styles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685800" lvl="1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AutoShape 5"/>
          <p:cNvSpPr/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6" name="AutoShape 6"/>
          <p:cNvSpPr/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  <a:r>
              <a:rPr lang="zh-CN" alt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2024/8/14</a:t>
            </a:r>
            <a:endParaRPr lang="zh-CN" alt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AutoShape 7"/>
          <p:cNvSpPr/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</a:fld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ctrTitle"/>
          </p:nvPr>
        </p:nvSpPr>
        <p:spPr>
          <a:xfrm>
            <a:off x="660400" y="2148628"/>
            <a:ext cx="10858500" cy="1563014"/>
          </a:xfrm>
        </p:spPr>
        <p:txBody>
          <a:bodyPr vert="horz" lIns="91440" tIns="45720" rIns="91440" bIns="45720" anchor="b">
            <a:noAutofit/>
          </a:bodyPr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zh-CN" altLang="en-US" sz="5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小红书爆款文案助手</a:t>
            </a:r>
            <a:endParaRPr lang="zh-CN" altLang="en-US" sz="5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subTitle" idx="1"/>
          </p:nvPr>
        </p:nvSpPr>
        <p:spPr>
          <a:xfrm>
            <a:off x="4445003" y="4154545"/>
            <a:ext cx="3289294" cy="55879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C7767"/>
              </a:gs>
              <a:gs pos="100000">
                <a:srgbClr val="7BBB79"/>
              </a:gs>
            </a:gsLst>
          </a:gradFill>
          <a:effectLst>
            <a:outerShdw blurRad="50800" dist="38100" dir="2700000" algn="tl" rotWithShape="0">
              <a:srgbClr val="37A897">
                <a:alpha val="40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indent="0" algn="ctr">
              <a:lnSpc>
                <a:spcPct val="90000"/>
              </a:lnSpc>
              <a:buNone/>
            </a:pPr>
            <a:r>
              <a:rPr lang="en-US" sz="1400" b="0" i="0" u="none" baseline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汇报人：王佳</a:t>
            </a:r>
            <a:endParaRPr lang="en-US" sz="1400" b="0" i="0" u="none" baseline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455" spd="100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45.0"/>
                                          </p:val>
                                        </p:tav>
                                        <p:tav tm="69900" fmla="">
                                          <p:val>
                                            <p:fltVal val="45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55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6" decel="50000" spd="100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6" spd="100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" dur="455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4"/>
          </p:nvPr>
        </p:nvSpPr>
        <p:spPr>
          <a:xfrm>
            <a:off x="660400" y="248396"/>
            <a:ext cx="4528545" cy="780304"/>
          </a:xfrm>
        </p:spPr>
        <p:txBody>
          <a:bodyPr vert="horz" lIns="91440" tIns="45720" rIns="91440" bIns="45720" anchor="t">
            <a:noAutofit/>
          </a:bodyPr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60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CONTENTS</a:t>
            </a:r>
            <a:endParaRPr lang="en-GB" sz="60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0400" y="2659527"/>
            <a:ext cx="1094172" cy="1094172"/>
            <a:chOff x="1024626" y="3363384"/>
            <a:chExt cx="1094172" cy="1094172"/>
          </a:xfrm>
        </p:grpSpPr>
        <p:sp>
          <p:nvSpPr>
            <p:cNvPr id="4" name="AutoShape 4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chemeClr val="accent1"/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rot="0" vert="horz" wrap="square" lIns="91440" tIns="45720" rIns="91440" bIns="45720" rtlCol="0" anchor="ctr">
              <a:spAutoFit/>
            </a:bodyPr>
            <a:lstStyle/>
            <a:p>
              <a:pPr marL="0" algn="ctr">
                <a:defRPr/>
              </a:pPr>
              <a:r>
                <a:rPr lang="en-US" sz="4400" b="1" i="0" u="none" baseline="0">
                  <a:solidFill>
                    <a:srgbClr val="2F2F2F">
                      <a:lumMod val="90000"/>
                      <a:lumOff val="10000"/>
                    </a:srgbClr>
                  </a:solidFill>
                  <a:latin typeface="Arial" panose="020B0604020202020204"/>
                  <a:ea typeface="Arial" panose="020B0604020202020204"/>
                </a:rPr>
                <a:t>01</a:t>
              </a:r>
              <a:endParaRPr lang="en-US" sz="11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59202" y="1151825"/>
            <a:ext cx="2026616" cy="36933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项目概述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flipV="1">
            <a:off x="1207486" y="1213867"/>
            <a:ext cx="0" cy="1445660"/>
          </a:xfrm>
          <a:prstGeom prst="line">
            <a:avLst/>
          </a:prstGeom>
          <a:ln w="38100" cap="flat" cmpd="sng">
            <a:solidFill>
              <a:schemeClr val="accent1"/>
            </a:solidFill>
            <a:prstDash val="solid"/>
            <a:tailEnd type="oval"/>
          </a:ln>
        </p:spPr>
      </p:cxnSp>
      <p:grpSp>
        <p:nvGrpSpPr>
          <p:cNvPr id="8" name="Group 8"/>
          <p:cNvGrpSpPr/>
          <p:nvPr/>
        </p:nvGrpSpPr>
        <p:grpSpPr>
          <a:xfrm>
            <a:off x="3456872" y="2657830"/>
            <a:ext cx="1094172" cy="1094172"/>
            <a:chOff x="1024626" y="3363384"/>
            <a:chExt cx="1094172" cy="1094172"/>
          </a:xfrm>
        </p:grpSpPr>
        <p:sp>
          <p:nvSpPr>
            <p:cNvPr id="9" name="AutoShape 9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rgbClr val="778495">
                <a:alpha val="60000"/>
              </a:srgb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rot="0" vert="horz" wrap="square" lIns="91440" tIns="45720" rIns="91440" bIns="45720" rtlCol="0" anchor="ctr">
              <a:spAutoFit/>
            </a:bodyPr>
            <a:lstStyle/>
            <a:p>
              <a:pPr marL="0" algn="ctr">
                <a:defRPr/>
              </a:pPr>
              <a:r>
                <a:rPr lang="en-US" sz="4400" b="1" i="0" u="none" baseline="0">
                  <a:solidFill>
                    <a:srgbClr val="2F2F2F">
                      <a:lumMod val="90000"/>
                      <a:lumOff val="10000"/>
                    </a:srgbClr>
                  </a:solidFill>
                  <a:latin typeface="Arial" panose="020B0604020202020204"/>
                  <a:ea typeface="Arial" panose="020B0604020202020204"/>
                </a:rPr>
                <a:t>02</a:t>
              </a:r>
              <a:endParaRPr lang="en-US" sz="11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55674" y="1150128"/>
            <a:ext cx="2026614" cy="36933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技术架构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flipV="1">
            <a:off x="4003958" y="1212170"/>
            <a:ext cx="0" cy="1445660"/>
          </a:xfrm>
          <a:prstGeom prst="line">
            <a:avLst/>
          </a:prstGeom>
          <a:ln w="38100" cap="flat" cmpd="sng">
            <a:solidFill>
              <a:srgbClr val="778495">
                <a:alpha val="60000"/>
              </a:srgbClr>
            </a:solidFill>
            <a:prstDash val="solid"/>
            <a:tailEnd type="oval"/>
          </a:ln>
        </p:spPr>
      </p:cxnSp>
      <p:grpSp>
        <p:nvGrpSpPr>
          <p:cNvPr id="13" name="Group 13"/>
          <p:cNvGrpSpPr/>
          <p:nvPr/>
        </p:nvGrpSpPr>
        <p:grpSpPr>
          <a:xfrm>
            <a:off x="6253342" y="2657830"/>
            <a:ext cx="1094172" cy="1094172"/>
            <a:chOff x="1024626" y="3363384"/>
            <a:chExt cx="1094172" cy="1094172"/>
          </a:xfrm>
        </p:grpSpPr>
        <p:sp>
          <p:nvSpPr>
            <p:cNvPr id="14" name="AutoShape 14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rgbClr val="778495">
                <a:alpha val="60000"/>
              </a:srgb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rot="0" vert="horz" wrap="square" lIns="91440" tIns="45720" rIns="91440" bIns="45720" rtlCol="0" anchor="ctr">
              <a:spAutoFit/>
            </a:bodyPr>
            <a:lstStyle/>
            <a:p>
              <a:pPr marL="0" algn="ctr">
                <a:defRPr/>
              </a:pPr>
              <a:r>
                <a:rPr lang="en-US" sz="4400" b="1" i="0" u="none" baseline="0">
                  <a:solidFill>
                    <a:srgbClr val="2F2F2F">
                      <a:lumMod val="90000"/>
                      <a:lumOff val="10000"/>
                    </a:srgbClr>
                  </a:solidFill>
                  <a:latin typeface="Arial" panose="020B0604020202020204"/>
                  <a:ea typeface="Arial" panose="020B0604020202020204"/>
                </a:rPr>
                <a:t>03</a:t>
              </a:r>
              <a:endParaRPr lang="en-US" sz="11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52144" y="1150128"/>
            <a:ext cx="2026614" cy="36933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核心功能演示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flipV="1">
            <a:off x="6800428" y="1212170"/>
            <a:ext cx="0" cy="1445660"/>
          </a:xfrm>
          <a:prstGeom prst="line">
            <a:avLst/>
          </a:prstGeom>
          <a:ln w="38100" cap="flat" cmpd="sng">
            <a:solidFill>
              <a:srgbClr val="778495">
                <a:alpha val="60000"/>
              </a:srgbClr>
            </a:solidFill>
            <a:prstDash val="solid"/>
            <a:tailEnd type="oval"/>
          </a:ln>
        </p:spPr>
      </p:cxnSp>
      <p:grpSp>
        <p:nvGrpSpPr>
          <p:cNvPr id="18" name="Group 18"/>
          <p:cNvGrpSpPr/>
          <p:nvPr/>
        </p:nvGrpSpPr>
        <p:grpSpPr>
          <a:xfrm>
            <a:off x="3456872" y="5461004"/>
            <a:ext cx="1094172" cy="1094172"/>
            <a:chOff x="1024626" y="3363384"/>
            <a:chExt cx="1094172" cy="1094172"/>
          </a:xfrm>
        </p:grpSpPr>
        <p:sp>
          <p:nvSpPr>
            <p:cNvPr id="19" name="AutoShape 19"/>
            <p:cNvSpPr/>
            <p:nvPr/>
          </p:nvSpPr>
          <p:spPr>
            <a:xfrm>
              <a:off x="1024626" y="3363384"/>
              <a:ext cx="1094172" cy="1094172"/>
            </a:xfrm>
            <a:prstGeom prst="ellipse">
              <a:avLst/>
            </a:prstGeom>
            <a:solidFill>
              <a:srgbClr val="778495">
                <a:alpha val="60000"/>
              </a:srgb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1570" y="3525750"/>
              <a:ext cx="820284" cy="769441"/>
            </a:xfrm>
            <a:prstGeom prst="rect">
              <a:avLst/>
            </a:prstGeom>
            <a:noFill/>
            <a:ln cap="rnd" cmpd="sng">
              <a:prstDash val="solid"/>
            </a:ln>
          </p:spPr>
          <p:txBody>
            <a:bodyPr rot="0" vert="horz" wrap="square" lIns="91440" tIns="45720" rIns="91440" bIns="45720" rtlCol="0" anchor="ctr">
              <a:spAutoFit/>
            </a:bodyPr>
            <a:lstStyle/>
            <a:p>
              <a:pPr marL="0" algn="ctr">
                <a:defRPr/>
              </a:pPr>
              <a:r>
                <a:rPr lang="en-US" sz="4400" b="1" i="0" u="none" baseline="0">
                  <a:solidFill>
                    <a:srgbClr val="2F2F2F">
                      <a:lumMod val="90000"/>
                      <a:lumOff val="10000"/>
                    </a:srgbClr>
                  </a:solidFill>
                  <a:latin typeface="Arial" panose="020B0604020202020204"/>
                  <a:ea typeface="Arial" panose="020B0604020202020204"/>
                </a:rPr>
                <a:t>04</a:t>
              </a:r>
              <a:endParaRPr lang="en-US" sz="11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55674" y="3953302"/>
            <a:ext cx="2026614" cy="36933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技术创新点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flipV="1">
            <a:off x="4003958" y="4015344"/>
            <a:ext cx="0" cy="1445660"/>
          </a:xfrm>
          <a:prstGeom prst="line">
            <a:avLst/>
          </a:prstGeom>
          <a:ln w="38100" cap="flat" cmpd="sng">
            <a:solidFill>
              <a:srgbClr val="778495">
                <a:alpha val="60000"/>
              </a:srgbClr>
            </a:solidFill>
            <a:prstDash val="solid"/>
            <a:tailEnd type="oval"/>
          </a:ln>
        </p:spPr>
      </p:cxnSp>
      <p:sp>
        <p:nvSpPr>
          <p:cNvPr id="23" name="AutoShape 23"/>
          <p:cNvSpPr/>
          <p:nvPr/>
        </p:nvSpPr>
        <p:spPr>
          <a:xfrm>
            <a:off x="6253342" y="5461004"/>
            <a:ext cx="1094172" cy="1094172"/>
          </a:xfrm>
          <a:prstGeom prst="ellipse">
            <a:avLst/>
          </a:prstGeom>
          <a:solidFill>
            <a:srgbClr val="778495">
              <a:alpha val="6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24" name="TextBox 24"/>
          <p:cNvSpPr txBox="1"/>
          <p:nvPr/>
        </p:nvSpPr>
        <p:spPr>
          <a:xfrm>
            <a:off x="6952144" y="3953302"/>
            <a:ext cx="2026614" cy="36933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项目成果与展望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flipV="1">
            <a:off x="6800428" y="4015344"/>
            <a:ext cx="0" cy="1445660"/>
          </a:xfrm>
          <a:prstGeom prst="line">
            <a:avLst/>
          </a:prstGeom>
          <a:ln w="38100" cap="flat" cmpd="sng">
            <a:solidFill>
              <a:srgbClr val="778495">
                <a:alpha val="60000"/>
              </a:srgbClr>
            </a:solidFill>
            <a:prstDash val="solid"/>
            <a:tailEnd type="oval"/>
          </a:ln>
        </p:spPr>
      </p:cxnSp>
      <p:sp>
        <p:nvSpPr>
          <p:cNvPr id="26" name="TextBox 26"/>
          <p:cNvSpPr txBox="1"/>
          <p:nvPr/>
        </p:nvSpPr>
        <p:spPr>
          <a:xfrm>
            <a:off x="6390286" y="5623370"/>
            <a:ext cx="820284" cy="769441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4400" b="1" i="0" u="none" baseline="0">
                <a:solidFill>
                  <a:srgbClr val="2F2F2F">
                    <a:lumMod val="90000"/>
                    <a:lumOff val="10000"/>
                  </a:srgbClr>
                </a:solidFill>
                <a:latin typeface="Arial" panose="020B0604020202020204"/>
                <a:ea typeface="Arial" panose="020B0604020202020204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" dur="20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20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" dur="1" spd="100" fill="hold"/>
                                        <p:tgtEl>
                                          <p:spTgt spid="11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8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24" dur="1000" spd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31" dur="1000" spd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3" dur="455" spd="100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45.0"/>
                                          </p:val>
                                        </p:tav>
                                        <p:tav tm="69900" fmla="">
                                          <p:val>
                                            <p:fltVal val="45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5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6" decel="50000" spd="100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36" spd="100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455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3224068" y="3325377"/>
            <a:ext cx="5731164" cy="424732"/>
          </a:xfrm>
        </p:spPr>
        <p:txBody>
          <a:bodyPr vert="horz" lIns="91440" tIns="45720" rIns="91440" bIns="45720" anchor="t">
            <a:norm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项目概述</a:t>
            </a:r>
            <a:endParaRPr lang="zh-CN" altLang="en-US" sz="2400" b="1" i="0" u="none" baseline="0">
              <a:solidFill>
                <a:srgbClr val="171A1D"/>
              </a:solidFill>
              <a:latin typeface="SourceSansPro"/>
              <a:ea typeface="SourceSans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3824" y="2030994"/>
            <a:ext cx="1351652" cy="132343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1" i="0" u="none" spc="100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6" dur="1000" spd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581304" y="1875056"/>
            <a:ext cx="2773601" cy="4259044"/>
          </a:xfrm>
          <a:prstGeom prst="roundRect">
            <a:avLst>
              <a:gd name="adj" fmla="val 7900"/>
            </a:avLst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3685653" y="2745954"/>
            <a:ext cx="255143" cy="255143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TextBox 5"/>
          <p:cNvSpPr txBox="1"/>
          <p:nvPr/>
        </p:nvSpPr>
        <p:spPr>
          <a:xfrm>
            <a:off x="1765404" y="2258809"/>
            <a:ext cx="228211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市场需求激增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827917" y="3277259"/>
            <a:ext cx="2219598" cy="1179450"/>
          </a:xfrm>
          <a:prstGeom prst="rect">
            <a:avLst/>
          </a:prstGeom>
          <a:noFill/>
        </p:spPr>
        <p:txBody>
          <a:bodyPr vert="horz" wrap="square" lIns="0" tIns="46800" rIns="0" bIns="4680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小红书内容创作需求持续增长，用户渴望高效、高质量的内容生成工具以提升影响力和互动。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1827917" y="2873525"/>
            <a:ext cx="1863764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id="8" name="AutoShape 8"/>
          <p:cNvSpPr/>
          <p:nvPr/>
        </p:nvSpPr>
        <p:spPr>
          <a:xfrm>
            <a:off x="4702849" y="1875056"/>
            <a:ext cx="2773601" cy="4259044"/>
          </a:xfrm>
          <a:prstGeom prst="roundRect">
            <a:avLst>
              <a:gd name="adj" fmla="val 7900"/>
            </a:avLst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AutoShape 9"/>
          <p:cNvSpPr/>
          <p:nvPr/>
        </p:nvSpPr>
        <p:spPr>
          <a:xfrm>
            <a:off x="6807197" y="2745954"/>
            <a:ext cx="255143" cy="255143"/>
          </a:xfrm>
          <a:prstGeom prst="ellipse">
            <a:avLst/>
          </a:pr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TextBox 10"/>
          <p:cNvSpPr txBox="1"/>
          <p:nvPr/>
        </p:nvSpPr>
        <p:spPr>
          <a:xfrm>
            <a:off x="4886949" y="2258809"/>
            <a:ext cx="228211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传统文案创作痛点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949462" y="3277259"/>
            <a:ext cx="2219598" cy="1179450"/>
          </a:xfrm>
          <a:prstGeom prst="rect">
            <a:avLst/>
          </a:prstGeom>
          <a:noFill/>
        </p:spPr>
        <p:txBody>
          <a:bodyPr vert="horz" wrap="square" lIns="0" tIns="46800" rIns="0" bIns="4680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用户在文案创作中面临效率低、缺乏专业指导、风格难以适配等问题，亟需智能解决方案。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>
            <a:off x="4957308" y="2873525"/>
            <a:ext cx="1863764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</a:ln>
        </p:spPr>
      </p:cxnSp>
      <p:sp>
        <p:nvSpPr>
          <p:cNvPr id="13" name="AutoShape 13"/>
          <p:cNvSpPr/>
          <p:nvPr/>
        </p:nvSpPr>
        <p:spPr>
          <a:xfrm>
            <a:off x="7824395" y="1875056"/>
            <a:ext cx="2773601" cy="4259044"/>
          </a:xfrm>
          <a:prstGeom prst="roundRect">
            <a:avLst>
              <a:gd name="adj" fmla="val 7900"/>
            </a:avLst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4" name="Connector 14"/>
          <p:cNvCxnSpPr/>
          <p:nvPr/>
        </p:nvCxnSpPr>
        <p:spPr>
          <a:xfrm>
            <a:off x="8064981" y="2873525"/>
            <a:ext cx="1863764" cy="0"/>
          </a:xfrm>
          <a:prstGeom prst="line">
            <a:avLst/>
          </a:prstGeom>
          <a:ln w="19050" cap="flat" cmpd="sng">
            <a:solidFill>
              <a:schemeClr val="accent1"/>
            </a:soli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9928744" y="2745954"/>
            <a:ext cx="255143" cy="255143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8008496" y="2258809"/>
            <a:ext cx="228211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AI赋能文案创作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071009" y="3277259"/>
            <a:ext cx="2219598" cy="1179450"/>
          </a:xfrm>
          <a:prstGeom prst="rect">
            <a:avLst/>
          </a:prstGeom>
          <a:noFill/>
        </p:spPr>
        <p:txBody>
          <a:bodyPr vert="horz" wrap="square" lIns="0" tIns="46800" rIns="0" bIns="4680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借助AI技术，构建智能文案生成平台，解决传统创作痛点，提升用户效率和内容质量，适应市场需求。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6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 spd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spd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800" decel="100000" spd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9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spd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spd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spd="1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spd="1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800" decel="100000" spd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8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8000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8000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1.0"/>
                                          </p:val>
                                        </p:tav>
                                        <p:tav tm="50000" fmla="">
                                          <p:val>
                                            <p:fltVal val="0.9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 spd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46" dur="500" spd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项目价值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216549" y="1438199"/>
            <a:ext cx="2981739" cy="4797501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2122206" y="1750864"/>
            <a:ext cx="1257944" cy="1257944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2535398" y="2218002"/>
            <a:ext cx="431562" cy="323668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1415331" y="3172175"/>
            <a:ext cx="262393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提升创作效率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415331" y="3929881"/>
            <a:ext cx="2623931" cy="815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AI助手可将文案创作效率提升10倍，大幅缩短内容生产周期，让用户更快地发布吸引人的内容。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11479" y="1438199"/>
            <a:ext cx="2981739" cy="4797501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9" name="AutoShape 9"/>
          <p:cNvSpPr/>
          <p:nvPr/>
        </p:nvSpPr>
        <p:spPr>
          <a:xfrm>
            <a:off x="5467028" y="1750864"/>
            <a:ext cx="1257944" cy="1257944"/>
          </a:xfrm>
          <a:prstGeom prst="ellipse">
            <a:avLst/>
          </a:pr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Freeform 10"/>
          <p:cNvSpPr/>
          <p:nvPr/>
        </p:nvSpPr>
        <p:spPr>
          <a:xfrm>
            <a:off x="5899149" y="2164056"/>
            <a:ext cx="393702" cy="431562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TextBox 11"/>
          <p:cNvSpPr txBox="1"/>
          <p:nvPr/>
        </p:nvSpPr>
        <p:spPr>
          <a:xfrm>
            <a:off x="4760153" y="3172175"/>
            <a:ext cx="262393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垂直领域AI应用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760153" y="3929881"/>
            <a:ext cx="2623931" cy="815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项目在垂直领域实现AI技术的创新应用，为其他领域的AI应用提供借鉴和参考价值。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6409" y="1438199"/>
            <a:ext cx="2981739" cy="4797501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14" name="AutoShape 14"/>
          <p:cNvSpPr/>
          <p:nvPr/>
        </p:nvSpPr>
        <p:spPr>
          <a:xfrm>
            <a:off x="8811850" y="1750864"/>
            <a:ext cx="1257944" cy="1257944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5" name="Freeform 15"/>
          <p:cNvSpPr/>
          <p:nvPr/>
        </p:nvSpPr>
        <p:spPr>
          <a:xfrm>
            <a:off x="9225042" y="2200197"/>
            <a:ext cx="431562" cy="35927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8104975" y="3172175"/>
            <a:ext cx="262393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全栈技术实践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104975" y="3929881"/>
            <a:ext cx="2623931" cy="815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项目采用现代化全栈技术，涵盖前端、后端和AI服务，是全面的技术实践案例。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6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spd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spd="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spd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9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accel="50000" spd="1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spd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accel="50000" spd="1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 decel="50000" spd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 spd="1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 spd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41" dur="1000" spd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5" dur="500" spd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3224068" y="3325377"/>
            <a:ext cx="5731164" cy="424732"/>
          </a:xfrm>
        </p:spPr>
        <p:txBody>
          <a:bodyPr vert="horz" lIns="91440" tIns="45720" rIns="91440" bIns="45720" anchor="t">
            <a:norm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技术架构</a:t>
            </a:r>
            <a:endParaRPr lang="zh-CN" altLang="en-US" sz="2400" b="1" i="0" u="none" baseline="0">
              <a:solidFill>
                <a:srgbClr val="171A1D"/>
              </a:solidFill>
              <a:latin typeface="SourceSansPro"/>
              <a:ea typeface="SourceSans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3824" y="2030994"/>
            <a:ext cx="1351652" cy="132343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1" i="0" u="none" spc="100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6" dur="1000" spd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10" dur="5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4256" y="2514131"/>
            <a:ext cx="10869543" cy="185150"/>
          </a:xfrm>
          <a:prstGeom prst="rightArrow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grpSp>
        <p:nvGrpSpPr>
          <p:cNvPr id="4" name="Group 4"/>
          <p:cNvGrpSpPr/>
          <p:nvPr/>
        </p:nvGrpSpPr>
        <p:grpSpPr>
          <a:xfrm>
            <a:off x="714257" y="1841572"/>
            <a:ext cx="540000" cy="540000"/>
            <a:chOff x="2832175" y="5599496"/>
            <a:chExt cx="540000" cy="540000"/>
          </a:xfrm>
        </p:grpSpPr>
        <p:sp>
          <p:nvSpPr>
            <p:cNvPr id="5" name="TextBox 5"/>
            <p:cNvSpPr txBox="1"/>
            <p:nvPr/>
          </p:nvSpPr>
          <p:spPr>
            <a:xfrm>
              <a:off x="2832175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2989061" y="5731793"/>
              <a:ext cx="226228" cy="275406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79857" y="1841572"/>
            <a:ext cx="540000" cy="540000"/>
            <a:chOff x="3708127" y="5599496"/>
            <a:chExt cx="540000" cy="540000"/>
          </a:xfrm>
        </p:grpSpPr>
        <p:sp>
          <p:nvSpPr>
            <p:cNvPr id="8" name="TextBox 8"/>
            <p:cNvSpPr txBox="1"/>
            <p:nvPr/>
          </p:nvSpPr>
          <p:spPr>
            <a:xfrm>
              <a:off x="3708127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778495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50260" y="5734252"/>
              <a:ext cx="255734" cy="270488"/>
            </a:xfrm>
            <a:custGeom>
              <a:avLst/>
              <a:gdLst/>
              <a:ahLst/>
              <a:cxnLst/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45457" y="1841572"/>
            <a:ext cx="540000" cy="540000"/>
            <a:chOff x="4584079" y="5599496"/>
            <a:chExt cx="540000" cy="540000"/>
          </a:xfrm>
        </p:grpSpPr>
        <p:sp>
          <p:nvSpPr>
            <p:cNvPr id="11" name="TextBox 11"/>
            <p:cNvSpPr txBox="1"/>
            <p:nvPr/>
          </p:nvSpPr>
          <p:spPr>
            <a:xfrm>
              <a:off x="4584079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716376" y="5766219"/>
              <a:ext cx="275406" cy="206554"/>
            </a:xfrm>
            <a:custGeom>
              <a:avLst/>
              <a:gdLst/>
              <a:ahLst/>
              <a:cxnLst/>
              <a:rect l="l" t="t" r="r" b="b"/>
              <a:pathLst>
                <a:path w="533400" h="400050">
                  <a:moveTo>
                    <a:pt x="505433" y="621"/>
                  </a:moveTo>
                  <a:cubicBezTo>
                    <a:pt x="521626" y="621"/>
                    <a:pt x="534008" y="13004"/>
                    <a:pt x="534008" y="29196"/>
                  </a:cubicBezTo>
                  <a:lnTo>
                    <a:pt x="534008" y="372096"/>
                  </a:lnTo>
                  <a:cubicBezTo>
                    <a:pt x="534008" y="388289"/>
                    <a:pt x="521626" y="400671"/>
                    <a:pt x="505433" y="400671"/>
                  </a:cubicBezTo>
                  <a:lnTo>
                    <a:pt x="29183" y="400671"/>
                  </a:lnTo>
                  <a:cubicBezTo>
                    <a:pt x="12990" y="400671"/>
                    <a:pt x="608" y="388289"/>
                    <a:pt x="608" y="372096"/>
                  </a:cubicBezTo>
                  <a:lnTo>
                    <a:pt x="608" y="29196"/>
                  </a:lnTo>
                  <a:cubicBezTo>
                    <a:pt x="608" y="13004"/>
                    <a:pt x="12990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133" y="198741"/>
                  </a:moveTo>
                  <a:cubicBezTo>
                    <a:pt x="378751" y="189216"/>
                    <a:pt x="360653" y="192074"/>
                    <a:pt x="351128" y="204456"/>
                  </a:cubicBezTo>
                  <a:lnTo>
                    <a:pt x="351128" y="204456"/>
                  </a:lnTo>
                  <a:lnTo>
                    <a:pt x="267308" y="315899"/>
                  </a:lnTo>
                  <a:cubicBezTo>
                    <a:pt x="266355" y="316851"/>
                    <a:pt x="265403" y="317804"/>
                    <a:pt x="264451" y="318756"/>
                  </a:cubicBezTo>
                  <a:cubicBezTo>
                    <a:pt x="253021" y="330186"/>
                    <a:pt x="234923" y="330186"/>
                    <a:pt x="224446" y="318756"/>
                  </a:cubicBezTo>
                  <a:lnTo>
                    <a:pt x="224446" y="318756"/>
                  </a:lnTo>
                  <a:lnTo>
                    <a:pt x="162533" y="257796"/>
                  </a:lnTo>
                  <a:cubicBezTo>
                    <a:pt x="161580" y="256844"/>
                    <a:pt x="161580" y="256844"/>
                    <a:pt x="160628" y="255891"/>
                  </a:cubicBezTo>
                  <a:cubicBezTo>
                    <a:pt x="148246" y="245414"/>
                    <a:pt x="130148" y="247319"/>
                    <a:pt x="120623" y="259701"/>
                  </a:cubicBezTo>
                  <a:lnTo>
                    <a:pt x="120623" y="259701"/>
                  </a:lnTo>
                  <a:lnTo>
                    <a:pt x="32993" y="366381"/>
                  </a:lnTo>
                  <a:cubicBezTo>
                    <a:pt x="32040" y="368286"/>
                    <a:pt x="31088" y="370191"/>
                    <a:pt x="31088" y="372096"/>
                  </a:cubicBezTo>
                  <a:cubicBezTo>
                    <a:pt x="31088" y="377811"/>
                    <a:pt x="34898" y="381621"/>
                    <a:pt x="40613" y="381621"/>
                  </a:cubicBezTo>
                  <a:lnTo>
                    <a:pt x="40613" y="381621"/>
                  </a:lnTo>
                  <a:lnTo>
                    <a:pt x="497813" y="381621"/>
                  </a:lnTo>
                  <a:cubicBezTo>
                    <a:pt x="499718" y="381621"/>
                    <a:pt x="501623" y="380669"/>
                    <a:pt x="503528" y="379716"/>
                  </a:cubicBezTo>
                  <a:cubicBezTo>
                    <a:pt x="508290" y="376859"/>
                    <a:pt x="509243" y="371144"/>
                    <a:pt x="506386" y="366381"/>
                  </a:cubicBezTo>
                  <a:lnTo>
                    <a:pt x="506386" y="366381"/>
                  </a:lnTo>
                  <a:lnTo>
                    <a:pt x="398753" y="205409"/>
                  </a:lnTo>
                  <a:cubicBezTo>
                    <a:pt x="395896" y="202551"/>
                    <a:pt x="393990" y="200646"/>
                    <a:pt x="391133" y="198741"/>
                  </a:cubicBezTo>
                  <a:close/>
                  <a:moveTo>
                    <a:pt x="95858" y="57771"/>
                  </a:moveTo>
                  <a:cubicBezTo>
                    <a:pt x="74903" y="57771"/>
                    <a:pt x="57758" y="74916"/>
                    <a:pt x="57758" y="95871"/>
                  </a:cubicBezTo>
                  <a:cubicBezTo>
                    <a:pt x="57758" y="116826"/>
                    <a:pt x="74903" y="133971"/>
                    <a:pt x="95858" y="133971"/>
                  </a:cubicBezTo>
                  <a:cubicBezTo>
                    <a:pt x="116813" y="133971"/>
                    <a:pt x="133958" y="116826"/>
                    <a:pt x="133958" y="95871"/>
                  </a:cubicBezTo>
                  <a:cubicBezTo>
                    <a:pt x="133958" y="74916"/>
                    <a:pt x="116813" y="57771"/>
                    <a:pt x="95858" y="577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4256" y="2961801"/>
            <a:ext cx="26306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三层架构设计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14256" y="3465912"/>
            <a:ext cx="2630630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前端(React)负责用户交互；后端(Spring)提供API和业务逻辑；AI服务(百炼)负责文案生成，三层协同工作。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33015" y="2961801"/>
            <a:ext cx="26306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数据流向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833015" y="3465912"/>
            <a:ext cx="2630630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用户请求从前端发起，经后端处理后传递给AI服务，AI生成内容返回给用户；数据持久化在后端完成。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888682" y="2948641"/>
            <a:ext cx="26306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架构优势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888682" y="3452752"/>
            <a:ext cx="2630630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各层独立部署和扩展，易于维护和升级；清晰的职责划分降低开发难度；强大的AI能力保证内容质量。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12" dur="10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 spd="1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 spd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spd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spd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spd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spd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前端技术栈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60399" y="1205093"/>
            <a:ext cx="6459591" cy="1580153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rot="0" vert="horz" wrap="square" lIns="91440" tIns="45720" rIns="91440" bIns="45720" anchor="t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1587277" y="1219757"/>
            <a:ext cx="524698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核心框架 React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1">
            <a:off x="1587269" y="1575277"/>
            <a:ext cx="5246987" cy="415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React 18结合TypeScript，构建稳定高效的用户界面，提供丰富的交互组件，确保最佳用户体验。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2635" y="1291719"/>
            <a:ext cx="564632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0" u="none" baseline="0">
                <a:solidFill>
                  <a:schemeClr val="accent1"/>
                </a:solidFill>
                <a:latin typeface="Arial" panose="020B0604020202020204"/>
                <a:ea typeface="Arial" panose="020B0604020202020204"/>
              </a:rPr>
              <a:t>01.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399" y="3029583"/>
            <a:ext cx="6459591" cy="1580153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rot="0" vert="horz" wrap="square" lIns="91440" tIns="45720" rIns="91440" bIns="45720" anchor="t">
            <a:normAutofit/>
          </a:bodyPr>
          <a:p>
            <a:pPr marL="0" algn="ctr"/>
          </a:p>
        </p:txBody>
      </p:sp>
      <p:sp>
        <p:nvSpPr>
          <p:cNvPr id="8" name="TextBox 8"/>
          <p:cNvSpPr txBox="1"/>
          <p:nvPr/>
        </p:nvSpPr>
        <p:spPr>
          <a:xfrm>
            <a:off x="1587277" y="3044247"/>
            <a:ext cx="524698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构建工具 Vite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1">
            <a:off x="1587269" y="3399767"/>
            <a:ext cx="5378609" cy="415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使用Vite实现快速开发，提高开发效率，支持热模块替换，提升开发体验，优化构建速度。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2635" y="3116209"/>
            <a:ext cx="564632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0" u="none" baseline="0">
                <a:solidFill>
                  <a:schemeClr val="accent1"/>
                </a:solidFill>
                <a:latin typeface="Arial" panose="020B0604020202020204"/>
                <a:ea typeface="Arial" panose="020B0604020202020204"/>
              </a:rPr>
              <a:t>02.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399" y="4854073"/>
            <a:ext cx="6459591" cy="1580153"/>
          </a:xfrm>
          <a:prstGeom prst="roundRect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rot="0" vert="horz" wrap="square" lIns="91440" tIns="45720" rIns="91440" bIns="45720" anchor="t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1587277" y="4868737"/>
            <a:ext cx="524698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UI组件库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1">
            <a:off x="1587269" y="5224257"/>
            <a:ext cx="5378609" cy="415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选用@nlux/react组件库，提供专业的聊天组件，优化用户交互体验，支持自定义主题和样式。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2635" y="4940699"/>
            <a:ext cx="564632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indent="0" algn="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i="0" u="none" baseline="0">
                <a:solidFill>
                  <a:schemeClr val="accent1"/>
                </a:solidFill>
                <a:latin typeface="Arial" panose="020B0604020202020204"/>
                <a:ea typeface="Arial" panose="020B0604020202020204"/>
              </a:rPr>
              <a:t>03.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 rot="1800000">
            <a:off x="7446373" y="1364691"/>
            <a:ext cx="4537978" cy="4303256"/>
          </a:xfrm>
          <a:custGeom>
            <a:avLst/>
            <a:gdLst/>
            <a:ahLst/>
            <a:cxnLst/>
            <a:rect l="l" t="t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blipFill>
            <a:blip r:embed="rId1"/>
            <a:srcRect l="1328" r="1328"/>
            <a:stretch>
              <a:fillRect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16" name="Freeform 16"/>
          <p:cNvSpPr/>
          <p:nvPr/>
        </p:nvSpPr>
        <p:spPr>
          <a:xfrm rot="1929514">
            <a:off x="8582391" y="1573114"/>
            <a:ext cx="2776967" cy="2633331"/>
          </a:xfrm>
          <a:custGeom>
            <a:avLst/>
            <a:gdLst/>
            <a:ahLst/>
            <a:cxnLst/>
            <a:rect l="l" t="t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noFill/>
          <a:ln w="12700">
            <a:solidFill>
              <a:srgbClr val="2F2F2F"/>
            </a:solidFill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6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0" dur="500" spd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28" dur="500" spd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2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 spd="1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 spd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46" dur="5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50" dur="500" spd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后端技术栈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66750" y="1554791"/>
            <a:ext cx="3139277" cy="4281929"/>
          </a:xfrm>
          <a:prstGeom prst="roundRect">
            <a:avLst>
              <a:gd name="adj" fmla="val 48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p>
            <a:pPr marL="0" algn="ctr">
              <a:lnSpc>
                <a:spcPct val="13000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907656" y="2700618"/>
            <a:ext cx="2657464" cy="3860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核心框架 S</a:t>
            </a: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AA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934857" y="1868667"/>
            <a:ext cx="571723" cy="571720"/>
            <a:chOff x="2631615" y="4670247"/>
            <a:chExt cx="444222" cy="444220"/>
          </a:xfrm>
        </p:grpSpPr>
        <p:sp>
          <p:nvSpPr>
            <p:cNvPr id="6" name="AutoShape 6"/>
            <p:cNvSpPr/>
            <p:nvPr/>
          </p:nvSpPr>
          <p:spPr>
            <a:xfrm>
              <a:off x="2631615" y="4670247"/>
              <a:ext cx="444222" cy="444220"/>
            </a:xfrm>
            <a:prstGeom prst="ellipse">
              <a:avLst/>
            </a:prstGeom>
            <a:solidFill>
              <a:schemeClr val="accent1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7" name="Freeform 7"/>
            <p:cNvSpPr/>
            <p:nvPr/>
          </p:nvSpPr>
          <p:spPr>
            <a:xfrm>
              <a:off x="2750946" y="4806791"/>
              <a:ext cx="205561" cy="171132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8" name="AutoShape 8"/>
          <p:cNvSpPr/>
          <p:nvPr/>
        </p:nvSpPr>
        <p:spPr>
          <a:xfrm>
            <a:off x="4526362" y="1554791"/>
            <a:ext cx="3139277" cy="4281929"/>
          </a:xfrm>
          <a:prstGeom prst="roundRect">
            <a:avLst>
              <a:gd name="adj" fmla="val 48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p>
            <a:pPr marL="0" algn="ctr">
              <a:lnSpc>
                <a:spcPct val="13000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767268" y="2726086"/>
            <a:ext cx="2657464" cy="36061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安全认证 Spring Security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5794469" y="1868667"/>
            <a:ext cx="571723" cy="571720"/>
            <a:chOff x="2631615" y="4670247"/>
            <a:chExt cx="444222" cy="444220"/>
          </a:xfrm>
        </p:grpSpPr>
        <p:sp>
          <p:nvSpPr>
            <p:cNvPr id="11" name="AutoShape 11"/>
            <p:cNvSpPr/>
            <p:nvPr/>
          </p:nvSpPr>
          <p:spPr>
            <a:xfrm>
              <a:off x="2631615" y="4670247"/>
              <a:ext cx="444222" cy="444220"/>
            </a:xfrm>
            <a:prstGeom prst="ellipse">
              <a:avLst/>
            </a:prstGeom>
            <a:solidFill>
              <a:srgbClr val="778495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50946" y="4806791"/>
              <a:ext cx="205561" cy="171132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8385973" y="1554791"/>
            <a:ext cx="3139277" cy="4281929"/>
          </a:xfrm>
          <a:prstGeom prst="roundRect">
            <a:avLst>
              <a:gd name="adj" fmla="val 48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wrap="square" lIns="91440" tIns="45720" rIns="91440" bIns="45720" anchor="ctr">
            <a:noAutofit/>
          </a:bodyPr>
          <a:p>
            <a:pPr marL="0" algn="ctr">
              <a:lnSpc>
                <a:spcPct val="130000"/>
              </a:lnSpc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8626879" y="2659978"/>
            <a:ext cx="2657464" cy="4267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数据持久化 JPA + MySQL</a:t>
            </a:r>
            <a:endParaRPr lang="en-US" sz="1100"/>
          </a:p>
        </p:txBody>
      </p:sp>
      <p:grpSp>
        <p:nvGrpSpPr>
          <p:cNvPr id="15" name="Group 15"/>
          <p:cNvGrpSpPr/>
          <p:nvPr/>
        </p:nvGrpSpPr>
        <p:grpSpPr>
          <a:xfrm>
            <a:off x="9654080" y="1868667"/>
            <a:ext cx="571723" cy="571720"/>
            <a:chOff x="2631615" y="4670247"/>
            <a:chExt cx="444222" cy="444220"/>
          </a:xfrm>
        </p:grpSpPr>
        <p:sp>
          <p:nvSpPr>
            <p:cNvPr id="16" name="AutoShape 16"/>
            <p:cNvSpPr/>
            <p:nvPr/>
          </p:nvSpPr>
          <p:spPr>
            <a:xfrm>
              <a:off x="2631615" y="4670247"/>
              <a:ext cx="444222" cy="444220"/>
            </a:xfrm>
            <a:prstGeom prst="ellipse">
              <a:avLst/>
            </a:prstGeom>
            <a:solidFill>
              <a:schemeClr val="accent1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750946" y="4806791"/>
              <a:ext cx="205561" cy="171132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907656" y="3180236"/>
            <a:ext cx="2657464" cy="138366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使用Spring </a:t>
            </a: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AI Alibaba</a:t>
            </a: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简化配置，快速搭建后端服务，提供强大的依赖管理和自动配置功能，易于开发。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779144" y="3215243"/>
            <a:ext cx="2657464" cy="231601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采用Spring Security结合JWT确保安全认证，保护用户数据和API接口安全，支持灵活的权限控制。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26879" y="3215243"/>
            <a:ext cx="2657464" cy="231601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利用Spring Data JPA简化数据库操作，结合MySQL实现数据持久化，选用HikariCP连接池提高数据库性能。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spd="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2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26" dur="1000" spd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 spd="1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500" spd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36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 spd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43" dur="500" spd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3224068" y="3325377"/>
            <a:ext cx="5731164" cy="424732"/>
          </a:xfrm>
        </p:spPr>
        <p:txBody>
          <a:bodyPr vert="horz" lIns="91440" tIns="45720" rIns="91440" bIns="45720" anchor="t">
            <a:norm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核心功能演示</a:t>
            </a:r>
            <a:endParaRPr lang="zh-CN" altLang="en-US" sz="2400" b="1" i="0" u="none" baseline="0">
              <a:solidFill>
                <a:srgbClr val="171A1D"/>
              </a:solidFill>
              <a:latin typeface="SourceSansPro"/>
              <a:ea typeface="SourceSans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3824" y="2030994"/>
            <a:ext cx="1351652" cy="132343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1" i="0" u="none" spc="100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spd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spd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 spd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12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用户认证系统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537999" y="1659542"/>
            <a:ext cx="1116000" cy="1116000"/>
          </a:xfrm>
          <a:prstGeom prst="ellipse">
            <a:avLst/>
          </a:pr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4815901" y="3223445"/>
            <a:ext cx="256019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用户信息管理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815901" y="3775952"/>
            <a:ext cx="2560196" cy="81534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提供个人资料维护功能，用户自主管理个人信息，保障用户隐私，提供安全可靠的账户管理机制。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32145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none" lIns="91440" tIns="45720" rIns="91440" bIns="45720" anchor="b">
            <a:spAutoFit/>
          </a:bodyPr>
          <a:p>
            <a:pPr marL="0" algn="ctr"/>
            <a:r>
              <a:rPr lang="en-US" sz="2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2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748441" y="1659542"/>
            <a:ext cx="1116000" cy="1116000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AutoShape 8"/>
          <p:cNvSpPr/>
          <p:nvPr/>
        </p:nvSpPr>
        <p:spPr>
          <a:xfrm>
            <a:off x="1026343" y="3223445"/>
            <a:ext cx="2560195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JWT认证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6343" y="3775952"/>
            <a:ext cx="2560196" cy="117729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采用JWT无状态认证，支持跨设备登录，提升用户体验，保证会话持久化；会话信息存储在客户端提高性能。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042587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none" lIns="91440" tIns="45720" rIns="91440" bIns="45720" anchor="b">
            <a:spAutoFit/>
          </a:bodyPr>
          <a:p>
            <a:pPr marL="0" algn="ctr"/>
            <a:r>
              <a:rPr lang="en-US" sz="2400" b="1" i="0" u="none" baseline="0">
                <a:solidFill>
                  <a:schemeClr val="lt1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2400" b="1" i="0" u="none" baseline="0">
              <a:solidFill>
                <a:schemeClr val="lt1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9327558" y="1659542"/>
            <a:ext cx="1116000" cy="1116000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AutoShape 12"/>
          <p:cNvSpPr/>
          <p:nvPr/>
        </p:nvSpPr>
        <p:spPr>
          <a:xfrm>
            <a:off x="8605460" y="3223445"/>
            <a:ext cx="256019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安全机制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605460" y="3775952"/>
            <a:ext cx="2560196" cy="75405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密码加密存储，Token定期刷新，增强系统安全性，防止恶意攻击；多重安全防护确保用户信息安全。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621704" y="197532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none" lIns="91440" tIns="45720" rIns="91440" bIns="45720" anchor="b">
            <a:spAutoFit/>
          </a:bodyPr>
          <a:p>
            <a:pPr marL="0" algn="ctr"/>
            <a:r>
              <a:rPr lang="en-US" sz="2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2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8000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80000" fmla="">
                                          <p:val>
                                            <p:fltVal val="9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1.0"/>
                                          </p:val>
                                        </p:tav>
                                        <p:tav tm="50000" fmla="">
                                          <p:val>
                                            <p:fltVal val="0.9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 spd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spd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2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44" dur="500" spd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48" dur="10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智能文案生成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60400" y="4714658"/>
            <a:ext cx="5155893" cy="1521042"/>
          </a:xfrm>
          <a:custGeom>
            <a:avLst/>
            <a:gdLst/>
            <a:ahLst/>
            <a:cxnLst/>
            <a:rect l="l" t="t" r="r" b="b"/>
            <a:pathLst>
              <a:path w="5155893" h="1521042">
                <a:moveTo>
                  <a:pt x="783638" y="0"/>
                </a:moveTo>
                <a:lnTo>
                  <a:pt x="4372256" y="0"/>
                </a:lnTo>
                <a:lnTo>
                  <a:pt x="5155893" y="1521042"/>
                </a:lnTo>
                <a:lnTo>
                  <a:pt x="0" y="1521042"/>
                </a:lnTo>
              </a:path>
            </a:pathLst>
          </a:cu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 flipH="1">
            <a:off x="5463702" y="5525051"/>
            <a:ext cx="741673" cy="0"/>
          </a:xfrm>
          <a:prstGeom prst="line">
            <a:avLst/>
          </a:prstGeom>
          <a:ln w="9525" cap="rnd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 flipH="1">
            <a:off x="3721555" y="2206477"/>
            <a:ext cx="2483820" cy="0"/>
          </a:xfrm>
          <a:prstGeom prst="line">
            <a:avLst/>
          </a:prstGeom>
          <a:ln w="9525" cap="rnd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solid"/>
          </a:ln>
        </p:spPr>
      </p:cxnSp>
      <p:cxnSp>
        <p:nvCxnSpPr>
          <p:cNvPr id="6" name="Connector 6"/>
          <p:cNvCxnSpPr/>
          <p:nvPr/>
        </p:nvCxnSpPr>
        <p:spPr>
          <a:xfrm flipH="1">
            <a:off x="4478107" y="3702272"/>
            <a:ext cx="1727267" cy="0"/>
          </a:xfrm>
          <a:prstGeom prst="line">
            <a:avLst/>
          </a:prstGeom>
          <a:ln w="9525" cap="rnd" cmpd="sng">
            <a:solidFill>
              <a:srgbClr val="2F2F2F">
                <a:alpha val="20000"/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7" name="Freeform 7"/>
          <p:cNvSpPr/>
          <p:nvPr/>
        </p:nvSpPr>
        <p:spPr>
          <a:xfrm>
            <a:off x="1557555" y="2973279"/>
            <a:ext cx="3361584" cy="1521042"/>
          </a:xfrm>
          <a:custGeom>
            <a:avLst/>
            <a:gdLst/>
            <a:ahLst/>
            <a:cxnLst/>
            <a:rect l="l" t="t" r="r" b="b"/>
            <a:pathLst>
              <a:path w="3361584" h="1521042">
                <a:moveTo>
                  <a:pt x="783638" y="0"/>
                </a:moveTo>
                <a:lnTo>
                  <a:pt x="2577946" y="0"/>
                </a:lnTo>
                <a:lnTo>
                  <a:pt x="3361584" y="1521042"/>
                </a:lnTo>
                <a:lnTo>
                  <a:pt x="0" y="1521042"/>
                </a:lnTo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2454710" y="1231901"/>
            <a:ext cx="1567274" cy="1521041"/>
          </a:xfrm>
          <a:custGeom>
            <a:avLst/>
            <a:gdLst/>
            <a:ahLst/>
            <a:cxnLst/>
            <a:rect l="l" t="t" r="r" b="b"/>
            <a:pathLst>
              <a:path w="1567274" h="1521041">
                <a:moveTo>
                  <a:pt x="783637" y="0"/>
                </a:moveTo>
                <a:lnTo>
                  <a:pt x="1567274" y="1521041"/>
                </a:lnTo>
                <a:lnTo>
                  <a:pt x="0" y="1521041"/>
                </a:lnTo>
              </a:path>
            </a:pathLst>
          </a:cu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05720" rIns="91440" bIns="0" anchor="ctr">
            <a:normAutofit/>
          </a:bodyPr>
          <a:p>
            <a:pPr marL="0" algn="ctr"/>
          </a:p>
        </p:txBody>
      </p:sp>
      <p:sp>
        <p:nvSpPr>
          <p:cNvPr id="9" name="TextBox 9"/>
          <p:cNvSpPr txBox="1"/>
          <p:nvPr/>
        </p:nvSpPr>
        <p:spPr>
          <a:xfrm>
            <a:off x="6682414" y="1927919"/>
            <a:ext cx="48364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多场景支持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682414" y="2235696"/>
            <a:ext cx="4836488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0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支持3秒生成高赞文案、爆款标题优化、仿写/润色/原创等功能，满足小红书风格适配需求，提升文案质量。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09027" y="1996598"/>
            <a:ext cx="426442" cy="426442"/>
          </a:xfrm>
          <a:prstGeom prst="ellipse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wrap="none" lIns="91440" tIns="45720" rIns="91440" bIns="45720" anchor="ctr">
            <a:normAutofit/>
          </a:bodyPr>
          <a:p>
            <a:pPr marL="0" algn="ctr"/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682414" y="3432969"/>
            <a:ext cx="48364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实时流式输出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82414" y="3740746"/>
            <a:ext cx="4836488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0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实时流式输出AI生成内容，用户可实时看到生成过程，增加用户体验的互动性；实时反馈提升创作体验。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09027" y="3494656"/>
            <a:ext cx="426442" cy="426442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none" lIns="91440" tIns="45720" rIns="91440" bIns="45720" anchor="ctr">
            <a:noAutofit/>
          </a:bodyPr>
          <a:p>
            <a:pPr marL="0" algn="ctr"/>
            <a:r>
              <a:rPr lang="en-US" sz="1800" b="0" i="0" u="none" baseline="0">
                <a:solidFill>
                  <a:schemeClr val="lt1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800" b="0" i="0" u="none" baseline="0">
              <a:solidFill>
                <a:schemeClr val="lt1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682414" y="5236270"/>
            <a:ext cx="4836486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上下文理解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682414" y="5544047"/>
            <a:ext cx="4836488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0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基于对话历史提供个性化建议，提升文案的精确性和相关性，持续优化生成文案的质量；更贴合用户需求。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09027" y="5305822"/>
            <a:ext cx="426442" cy="426442"/>
          </a:xfrm>
          <a:prstGeom prst="ellipse">
            <a:avLst/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wrap="none" lIns="91440" tIns="45720" rIns="91440" bIns="45720" anchor="ctr">
            <a:normAutofit/>
          </a:bodyPr>
          <a:p>
            <a:pPr marL="0" algn="ctr"/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6" dur="5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13" dur="1000" spd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17" dur="1000" spd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 spd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spd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spd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36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 spd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 spd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spd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 spd="1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2" dur="500" spd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46" dur="1000" spd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对话历史管理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2232329" y="4424203"/>
            <a:ext cx="6871819" cy="1423704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2312364" y="4551867"/>
            <a:ext cx="1168118" cy="1167537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en-GB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GB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528412" y="4823320"/>
            <a:ext cx="5264713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采用数据库存储实现历史记录持久化，支持跨会话访问，充分利用历史数据，提供更精准的文案建议。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3528412" y="4538604"/>
            <a:ext cx="526471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历史记录持久化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flipH="1">
            <a:off x="4608210" y="2833433"/>
            <a:ext cx="6801817" cy="1423704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AutoShape 8"/>
          <p:cNvSpPr/>
          <p:nvPr/>
        </p:nvSpPr>
        <p:spPr>
          <a:xfrm>
            <a:off x="4688535" y="2961936"/>
            <a:ext cx="1167537" cy="1167537"/>
          </a:xfrm>
          <a:prstGeom prst="ellipse">
            <a:avLst/>
          </a:pr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0" tIns="0" rIns="0" bIns="0" anchor="ctr">
            <a:normAutofit/>
          </a:bodyPr>
          <a:p>
            <a:pPr marL="0" algn="ctr"/>
            <a:r>
              <a:rPr lang="en-GB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2</a:t>
            </a:r>
            <a:endParaRPr lang="en-GB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16946" y="3225821"/>
            <a:ext cx="5264713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自动保存、删除、恢复功能，方便用户管理对话；搜索功能快速定位历史对话，优化用户体验，提高效率。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016946" y="2958798"/>
            <a:ext cx="526471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智能会话管理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1">
            <a:off x="2232330" y="1242664"/>
            <a:ext cx="6871820" cy="1423704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AutoShape 12"/>
          <p:cNvSpPr/>
          <p:nvPr/>
        </p:nvSpPr>
        <p:spPr>
          <a:xfrm>
            <a:off x="2312654" y="1371167"/>
            <a:ext cx="1167537" cy="1167537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en-GB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1</a:t>
            </a:r>
            <a:endParaRPr lang="en-GB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28412" y="1635052"/>
            <a:ext cx="5264712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每个用户独立的对话空间，保证用户数据的隐私性，防止数据混淆，支持多设备同步访问，无缝切换。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3528412" y="1340434"/>
            <a:ext cx="526471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多会话隔离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4" dur="500" spd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spd="1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4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spd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5000" fmla="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 fmla="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 fmla="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 fmla="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 fmla="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 fmla="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 fmla="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 fmla="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 fmla="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 fmla="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 fmla="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 fmla="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 fmla="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 fmla="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 fmla="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 fmla="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 fmla="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 fmla="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spd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 fmla="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 fmla="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 fmla="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 fmla="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 fmla="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 fmla="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 fmla="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 fmla="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 fmla="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 fmla="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 fmla="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 fmla="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 fmla="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 fmla="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 fmla="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 fmla="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 fmla="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 fmla="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" spd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9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49" dur="1000" spd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3224068" y="3325377"/>
            <a:ext cx="5731164" cy="424732"/>
          </a:xfrm>
        </p:spPr>
        <p:txBody>
          <a:bodyPr vert="horz" lIns="91440" tIns="45720" rIns="91440" bIns="45720" anchor="t">
            <a:norm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技术创新点</a:t>
            </a:r>
            <a:endParaRPr lang="zh-CN" altLang="en-US" sz="2400" b="1" i="0" u="none" baseline="0">
              <a:solidFill>
                <a:srgbClr val="171A1D"/>
              </a:solidFill>
              <a:latin typeface="SourceSansPro"/>
              <a:ea typeface="SourceSans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3824" y="2030994"/>
            <a:ext cx="1351652" cy="132343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1" i="0" u="none" spc="100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6" dur="500" spd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混合存储架构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0401" y="1835927"/>
            <a:ext cx="69557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3600" b="1" i="1" u="none" baseline="0">
                <a:solidFill>
                  <a:schemeClr val="accent1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1" y="2504622"/>
            <a:ext cx="285246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chemeClr val="accent1"/>
                </a:solidFill>
                <a:latin typeface="Arial" panose="020B0604020202020204"/>
                <a:ea typeface="Arial" panose="020B0604020202020204"/>
              </a:rPr>
              <a:t>数据分层存储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60400" y="2843176"/>
            <a:ext cx="2852469" cy="10218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solidFill>
                  <a:srgbClr val="2F2F2F">
                    <a:alpha val="80000"/>
                    <a:lumMod val="95000"/>
                    <a:lumOff val="5000"/>
                  </a:srgbClr>
                </a:solidFill>
                <a:latin typeface="Arial" panose="020B0604020202020204"/>
                <a:ea typeface="Arial" panose="020B0604020202020204"/>
              </a:rPr>
              <a:t>采用内存+数据库双重存储机制，优化数据访问速度，适应不同场景需求，保证数据持久化，支持快速恢复。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29837" y="1835927"/>
            <a:ext cx="69557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3600" b="0" i="1" u="none" baseline="0">
                <a:solidFill>
                  <a:srgbClr val="F0F0F0">
                    <a:lumMod val="10000"/>
                  </a:srgbClr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29836" y="2504622"/>
            <a:ext cx="285246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F0F0F0">
                    <a:lumMod val="10000"/>
                  </a:srgbClr>
                </a:solidFill>
                <a:latin typeface="Arial" panose="020B0604020202020204"/>
                <a:ea typeface="Arial" panose="020B0604020202020204"/>
              </a:rPr>
              <a:t>智能存储切换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529835" y="2843176"/>
            <a:ext cx="2852469" cy="10218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solidFill>
                  <a:srgbClr val="2F2F2F">
                    <a:alpha val="80000"/>
                    <a:lumMod val="95000"/>
                    <a:lumOff val="5000"/>
                  </a:srgbClr>
                </a:solidFill>
                <a:latin typeface="Arial" panose="020B0604020202020204"/>
                <a:ea typeface="Arial" panose="020B0604020202020204"/>
              </a:rPr>
              <a:t>根据访问频率和数据重要性自动选择存储方式，保证高性能同时兼顾数据安全，提升用户体验。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7837" y="1835927"/>
            <a:ext cx="69557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3600" b="0" i="1" u="none" baseline="0">
                <a:solidFill>
                  <a:srgbClr val="F0F0F0">
                    <a:lumMod val="10000"/>
                  </a:srgbClr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7835" y="2504622"/>
            <a:ext cx="285246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F0F0F0">
                    <a:lumMod val="10000"/>
                  </a:srgbClr>
                </a:solidFill>
                <a:latin typeface="Arial" panose="020B0604020202020204"/>
                <a:ea typeface="Arial" panose="020B0604020202020204"/>
              </a:rPr>
              <a:t>双重存储优势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507834" y="2843176"/>
            <a:ext cx="2902502" cy="102188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400" b="0" i="0" u="none" baseline="0">
                <a:solidFill>
                  <a:srgbClr val="2F2F2F">
                    <a:alpha val="80000"/>
                    <a:lumMod val="95000"/>
                    <a:lumOff val="5000"/>
                  </a:srgbClr>
                </a:solidFill>
                <a:latin typeface="Arial" panose="020B0604020202020204"/>
                <a:ea typeface="Arial" panose="020B0604020202020204"/>
              </a:rPr>
              <a:t>内存存储提供快速访问和低延迟，数据库存储实现持久化，智能切换保证性能和数据安全，灵活适应场景。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1" y="4809179"/>
            <a:ext cx="2886694" cy="899109"/>
          </a:xfrm>
          <a:prstGeom prst="roundRect">
            <a:avLst>
              <a:gd name="adj" fmla="val 4800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rot="0" vert="horz" wrap="non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13" name="AutoShape 13"/>
          <p:cNvSpPr/>
          <p:nvPr/>
        </p:nvSpPr>
        <p:spPr>
          <a:xfrm>
            <a:off x="4529835" y="5180626"/>
            <a:ext cx="2902501" cy="527662"/>
          </a:xfrm>
          <a:prstGeom prst="roundRect">
            <a:avLst>
              <a:gd name="adj" fmla="val 4800"/>
            </a:avLst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  <p:sp>
        <p:nvSpPr>
          <p:cNvPr id="14" name="AutoShape 14"/>
          <p:cNvSpPr/>
          <p:nvPr/>
        </p:nvSpPr>
        <p:spPr>
          <a:xfrm>
            <a:off x="8507834" y="5430428"/>
            <a:ext cx="2806638" cy="277860"/>
          </a:xfrm>
          <a:prstGeom prst="roundRect">
            <a:avLst>
              <a:gd name="adj" fmla="val 4800"/>
            </a:avLst>
          </a:prstGeom>
          <a:solidFill>
            <a:schemeClr val="accent1">
              <a:alpha val="15000"/>
            </a:schemeClr>
          </a:solidFill>
          <a:ln cap="flat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20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spd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5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 spd="1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 spd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 spd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spd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spd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spd="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1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20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0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53" dur="500" spd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流式AI响应优化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91764" y="1538578"/>
            <a:ext cx="5398936" cy="4546043"/>
          </a:xfrm>
          <a:custGeom>
            <a:avLst/>
            <a:gdLst/>
            <a:ahLst/>
            <a:cxnLst/>
            <a:rect l="l" t="t" r="r" b="b"/>
            <a:pathLst>
              <a:path w="3073652" h="2799862">
                <a:moveTo>
                  <a:pt x="1535827" y="0"/>
                </a:moveTo>
                <a:lnTo>
                  <a:pt x="2547104" y="0"/>
                </a:lnTo>
                <a:cubicBezTo>
                  <a:pt x="2950728" y="0"/>
                  <a:pt x="3203547" y="439107"/>
                  <a:pt x="3003953" y="789506"/>
                </a:cubicBezTo>
                <a:lnTo>
                  <a:pt x="2498314" y="1663285"/>
                </a:lnTo>
                <a:lnTo>
                  <a:pt x="1992676" y="2537063"/>
                </a:lnTo>
                <a:cubicBezTo>
                  <a:pt x="1788646" y="2887462"/>
                  <a:pt x="1283007" y="2887462"/>
                  <a:pt x="1083413" y="2537063"/>
                </a:cubicBezTo>
                <a:lnTo>
                  <a:pt x="577775" y="1663285"/>
                </a:lnTo>
                <a:lnTo>
                  <a:pt x="72136" y="789506"/>
                </a:lnTo>
                <a:cubicBezTo>
                  <a:pt x="-131894" y="439107"/>
                  <a:pt x="120926" y="0"/>
                  <a:pt x="528985" y="0"/>
                </a:cubicBezTo>
                <a:lnTo>
                  <a:pt x="1535827" y="0"/>
                </a:lnTo>
                <a:close/>
              </a:path>
            </a:pathLst>
          </a:cu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" name="AutoShape 4"/>
          <p:cNvSpPr/>
          <p:nvPr/>
        </p:nvSpPr>
        <p:spPr>
          <a:xfrm>
            <a:off x="888372" y="1838630"/>
            <a:ext cx="4746929" cy="70766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实时数据处理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566923" y="3076038"/>
            <a:ext cx="3657600" cy="7076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261" y="0"/>
                </a:moveTo>
                <a:lnTo>
                  <a:pt x="19339" y="0"/>
                </a:lnTo>
                <a:lnTo>
                  <a:pt x="19339" y="0"/>
                </a:lnTo>
                <a:cubicBezTo>
                  <a:pt x="20588" y="0"/>
                  <a:pt x="21600" y="4835"/>
                  <a:pt x="21600" y="10800"/>
                </a:cubicBezTo>
                <a:lnTo>
                  <a:pt x="21600" y="10800"/>
                </a:lnTo>
                <a:lnTo>
                  <a:pt x="21600" y="10800"/>
                </a:lnTo>
                <a:cubicBezTo>
                  <a:pt x="21600" y="13782"/>
                  <a:pt x="21347" y="16482"/>
                  <a:pt x="20938" y="18437"/>
                </a:cubicBezTo>
                <a:cubicBezTo>
                  <a:pt x="20528" y="20391"/>
                  <a:pt x="19963" y="21600"/>
                  <a:pt x="19339" y="21600"/>
                </a:cubicBezTo>
                <a:lnTo>
                  <a:pt x="19339" y="21600"/>
                </a:lnTo>
                <a:lnTo>
                  <a:pt x="2261" y="21600"/>
                </a:lnTo>
                <a:lnTo>
                  <a:pt x="2261" y="21600"/>
                </a:lnTo>
                <a:cubicBezTo>
                  <a:pt x="1012" y="21600"/>
                  <a:pt x="0" y="16765"/>
                  <a:pt x="0" y="10800"/>
                </a:cubicBezTo>
                <a:lnTo>
                  <a:pt x="0" y="10800"/>
                </a:lnTo>
                <a:lnTo>
                  <a:pt x="0" y="10800"/>
                </a:lnTo>
                <a:cubicBezTo>
                  <a:pt x="0" y="4835"/>
                  <a:pt x="1012" y="0"/>
                  <a:pt x="2261" y="0"/>
                </a:cubicBezTo>
                <a:lnTo>
                  <a:pt x="2261" y="0"/>
                </a:lnTo>
                <a:close/>
              </a:path>
            </a:pathLst>
          </a:cu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异步处理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097830" y="4382417"/>
            <a:ext cx="2586803" cy="7076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3481" y="0"/>
                </a:moveTo>
                <a:lnTo>
                  <a:pt x="18119" y="0"/>
                </a:lnTo>
                <a:lnTo>
                  <a:pt x="18119" y="0"/>
                </a:lnTo>
                <a:cubicBezTo>
                  <a:pt x="20042" y="0"/>
                  <a:pt x="21600" y="4835"/>
                  <a:pt x="21600" y="10800"/>
                </a:cubicBezTo>
                <a:lnTo>
                  <a:pt x="21600" y="10800"/>
                </a:lnTo>
                <a:lnTo>
                  <a:pt x="21600" y="10800"/>
                </a:lnTo>
                <a:cubicBezTo>
                  <a:pt x="21600" y="13782"/>
                  <a:pt x="21210" y="16482"/>
                  <a:pt x="20581" y="18437"/>
                </a:cubicBezTo>
                <a:cubicBezTo>
                  <a:pt x="19951" y="20391"/>
                  <a:pt x="19080" y="21600"/>
                  <a:pt x="18119" y="21600"/>
                </a:cubicBezTo>
                <a:lnTo>
                  <a:pt x="18119" y="21600"/>
                </a:lnTo>
                <a:lnTo>
                  <a:pt x="3481" y="21600"/>
                </a:lnTo>
                <a:lnTo>
                  <a:pt x="3481" y="21600"/>
                </a:lnTo>
                <a:cubicBezTo>
                  <a:pt x="1558" y="21600"/>
                  <a:pt x="0" y="16765"/>
                  <a:pt x="0" y="10800"/>
                </a:cubicBezTo>
                <a:lnTo>
                  <a:pt x="0" y="10800"/>
                </a:lnTo>
                <a:lnTo>
                  <a:pt x="0" y="10800"/>
                </a:lnTo>
                <a:cubicBezTo>
                  <a:pt x="0" y="4835"/>
                  <a:pt x="1558" y="0"/>
                  <a:pt x="3481" y="0"/>
                </a:cubicBezTo>
                <a:lnTo>
                  <a:pt x="3481" y="0"/>
                </a:lnTo>
                <a:close/>
              </a:path>
            </a:pathLst>
          </a:cu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用户体验提升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flipH="1">
            <a:off x="5507665" y="2137175"/>
            <a:ext cx="1164449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olid"/>
            <a:tailEnd type="oval"/>
          </a:ln>
        </p:spPr>
      </p:cxnSp>
      <p:sp>
        <p:nvSpPr>
          <p:cNvPr id="8" name="AutoShape 8"/>
          <p:cNvSpPr/>
          <p:nvPr/>
        </p:nvSpPr>
        <p:spPr>
          <a:xfrm>
            <a:off x="6338242" y="1913996"/>
            <a:ext cx="457314" cy="453042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0" tIns="0" rIns="0" bIns="0" anchor="ctr">
            <a:normAutofit/>
          </a:bodyPr>
          <a:p>
            <a:pPr marL="0" algn="ctr"/>
            <a:r>
              <a:rPr lang="en-US" sz="2000" b="1" i="0" u="none" baseline="0">
                <a:solidFill>
                  <a:schemeClr val="lt1"/>
                </a:solidFill>
                <a:latin typeface="Arial" panose="020B0604020202020204"/>
                <a:ea typeface="Arial" panose="020B0604020202020204"/>
              </a:rPr>
              <a:t>01</a:t>
            </a:r>
            <a:endParaRPr lang="en-US" sz="2000" b="1" i="0" u="none" baseline="0">
              <a:solidFill>
                <a:schemeClr val="lt1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12242" y="1866896"/>
            <a:ext cx="4738209" cy="453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自定义流式处理实现实时AI响应，有效提升用户体验，减少等待时间，提高交互效率，数据即时反馈。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flipH="1">
            <a:off x="5126036" y="3417030"/>
            <a:ext cx="1210854" cy="0"/>
          </a:xfrm>
          <a:prstGeom prst="line">
            <a:avLst/>
          </a:prstGeom>
          <a:ln w="9525" cap="rnd" cmpd="sng">
            <a:solidFill>
              <a:schemeClr val="accent2"/>
            </a:solidFill>
            <a:prstDash val="solid"/>
            <a:tailEnd type="oval"/>
          </a:ln>
        </p:spPr>
      </p:cxnSp>
      <p:sp>
        <p:nvSpPr>
          <p:cNvPr id="11" name="AutoShape 11"/>
          <p:cNvSpPr/>
          <p:nvPr/>
        </p:nvSpPr>
        <p:spPr>
          <a:xfrm>
            <a:off x="6336900" y="3190509"/>
            <a:ext cx="458218" cy="453042"/>
          </a:xfrm>
          <a:prstGeom prst="ellipse">
            <a:avLst/>
          </a:pr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0" tIns="0" rIns="0" bIns="0" anchor="ctr">
            <a:normAutofit/>
          </a:bodyPr>
          <a:p>
            <a:pPr marL="0" algn="ctr"/>
            <a:r>
              <a:rPr lang="en-US" sz="2000" b="1" i="0" u="none" baseline="0">
                <a:solidFill>
                  <a:schemeClr val="lt1"/>
                </a:solidFill>
                <a:latin typeface="Arial" panose="020B0604020202020204"/>
                <a:ea typeface="Arial" panose="020B0604020202020204"/>
              </a:rPr>
              <a:t>02</a:t>
            </a:r>
            <a:endParaRPr lang="en-US" sz="2000" b="1" i="0" u="none" baseline="0">
              <a:solidFill>
                <a:schemeClr val="lt1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11864" y="3203349"/>
            <a:ext cx="4747569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采用异步处理方式优化流式响应，避免阻塞用户交互，保证界面流畅，降低系统负载，提升整体性能。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flipH="1">
            <a:off x="4485236" y="4722564"/>
            <a:ext cx="1851664" cy="0"/>
          </a:xfrm>
          <a:prstGeom prst="line">
            <a:avLst/>
          </a:prstGeom>
          <a:ln w="9525" cap="rnd" cmpd="sng">
            <a:solidFill>
              <a:schemeClr val="accent1"/>
            </a:solidFill>
            <a:prstDash val="solid"/>
            <a:tailEnd type="oval"/>
          </a:ln>
        </p:spPr>
      </p:cxnSp>
      <p:sp>
        <p:nvSpPr>
          <p:cNvPr id="14" name="AutoShape 14"/>
          <p:cNvSpPr/>
          <p:nvPr/>
        </p:nvSpPr>
        <p:spPr>
          <a:xfrm>
            <a:off x="6336900" y="4496043"/>
            <a:ext cx="453042" cy="453042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0" tIns="0" rIns="0" bIns="0" anchor="ctr">
            <a:normAutofit/>
          </a:bodyPr>
          <a:p>
            <a:pPr marL="0" algn="ctr"/>
            <a:r>
              <a:rPr lang="en-US" sz="2000" b="1" i="0" u="none" baseline="0">
                <a:solidFill>
                  <a:schemeClr val="lt1"/>
                </a:solidFill>
                <a:latin typeface="Arial" panose="020B0604020202020204"/>
                <a:ea typeface="Arial" panose="020B0604020202020204"/>
              </a:rPr>
              <a:t>03</a:t>
            </a:r>
            <a:endParaRPr lang="en-US" sz="2000" b="1" i="0" u="none" baseline="0">
              <a:solidFill>
                <a:schemeClr val="lt1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06307" y="4528453"/>
            <a:ext cx="4693929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通过实时流式响应，用户可立即看到生成结果，增加互动性和参与感，提升用户满意度，优化创作体验。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0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6" dur="500" spd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20" dur="1000" spd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33" dur="50" spd="1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 fmla="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50" spd="1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 fmla="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50" spd="1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48" dur="1000" spd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上下文记忆系统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2F2F2F">
              <a:alpha val="5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gradFill>
                  <a:gsLst>
                    <a:gs pos="0">
                      <a:srgbClr val="2C7767">
                        <a:lumMod val="60000"/>
                        <a:lumOff val="40000"/>
                      </a:srgbClr>
                    </a:gs>
                    <a:gs pos="61062">
                      <a:srgbClr val="2C7767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  <a:latin typeface="Arial" panose="020B0604020202020204"/>
                <a:ea typeface="Arial" panose="020B0604020202020204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13895" y="3668995"/>
            <a:ext cx="2742017" cy="8153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智能上下文管理系统，能防重复保存，确保数据唯一性；异步保存不阻塞用户交互，提升系统性能。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5482" y="3035116"/>
            <a:ext cx="332102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智能上下文管理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gradFill>
                  <a:gsLst>
                    <a:gs pos="0">
                      <a:srgbClr val="1C9A62">
                        <a:lumMod val="60000"/>
                        <a:lumOff val="40000"/>
                      </a:srgbClr>
                    </a:gs>
                    <a:gs pos="60000">
                      <a:srgbClr val="1C9A62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  <a:latin typeface="Arial" panose="020B0604020202020204"/>
                <a:ea typeface="Arial" panose="020B0604020202020204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724992" y="3668995"/>
            <a:ext cx="2742017" cy="1177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基于上下文提供个性化建议，优化文案质量，提升用户体验，满足用户多样化需求；提供高质量的创作支持。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26579" y="3035116"/>
            <a:ext cx="332102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个性化建议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gradFill>
                  <a:gsLst>
                    <a:gs pos="0">
                      <a:srgbClr val="2C7767">
                        <a:lumMod val="60000"/>
                        <a:lumOff val="40000"/>
                      </a:srgbClr>
                    </a:gs>
                    <a:gs pos="61062">
                      <a:srgbClr val="2C7767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  <a:latin typeface="Arial" panose="020B0604020202020204"/>
                <a:ea typeface="Arial" panose="020B0604020202020204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36089" y="3668995"/>
            <a:ext cx="2742017" cy="8153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充分利用历史数据，更精准地生成文案，降低错误率，提升创作效率，保证文案质量持续提升。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37676" y="3035116"/>
            <a:ext cx="274042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历史数据利用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6" dur="5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2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spd="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1000" spd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5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6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7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1)">
                                      <p:cBhvr>
                                        <p:cTn id="44" dur="1000" spd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48" dur="1000" spd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自适应主题系统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616652" y="3738474"/>
            <a:ext cx="5774163" cy="2483283"/>
          </a:xfrm>
          <a:prstGeom prst="roundRect">
            <a:avLst>
              <a:gd name="adj" fmla="val 8000"/>
            </a:avLst>
          </a:prstGeom>
          <a:solidFill>
            <a:srgbClr val="2F2F2F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Freeform 4"/>
          <p:cNvSpPr/>
          <p:nvPr/>
        </p:nvSpPr>
        <p:spPr>
          <a:xfrm>
            <a:off x="6024395" y="4110328"/>
            <a:ext cx="278072" cy="375397"/>
          </a:xfrm>
          <a:custGeom>
            <a:avLst/>
            <a:gdLst/>
            <a:ahLst/>
            <a:cxnLst/>
            <a:rect l="l" t="t" r="r" b="b"/>
            <a:pathLst>
              <a:path w="381000" h="514350">
                <a:moveTo>
                  <a:pt x="86973" y="38721"/>
                </a:moveTo>
                <a:lnTo>
                  <a:pt x="86973" y="95871"/>
                </a:lnTo>
                <a:lnTo>
                  <a:pt x="296523" y="95871"/>
                </a:lnTo>
                <a:lnTo>
                  <a:pt x="296523" y="38721"/>
                </a:lnTo>
                <a:lnTo>
                  <a:pt x="382248" y="38721"/>
                </a:lnTo>
                <a:lnTo>
                  <a:pt x="382248" y="514971"/>
                </a:lnTo>
                <a:lnTo>
                  <a:pt x="1248" y="514971"/>
                </a:lnTo>
                <a:lnTo>
                  <a:pt x="1248" y="38721"/>
                </a:ln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77473" y="621"/>
                </a:moveTo>
                <a:lnTo>
                  <a:pt x="277473" y="76821"/>
                </a:lnTo>
                <a:lnTo>
                  <a:pt x="106023" y="76821"/>
                </a:lnTo>
                <a:lnTo>
                  <a:pt x="106023" y="621"/>
                </a:lnTo>
                <a:lnTo>
                  <a:pt x="277473" y="621"/>
                </a:ln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5" name="AutoShape 5"/>
          <p:cNvSpPr/>
          <p:nvPr/>
        </p:nvSpPr>
        <p:spPr>
          <a:xfrm flipH="1">
            <a:off x="6484965" y="4439987"/>
            <a:ext cx="4347980" cy="166821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易于维护和扩展，方便后续增加更多主题样式，满足不断变化的用户需求，保持系统活力，增强竞争力。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484966" y="4108084"/>
            <a:ext cx="434798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易于维护和扩展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16652" y="1044577"/>
            <a:ext cx="5774163" cy="2561868"/>
          </a:xfrm>
          <a:prstGeom prst="roundRect">
            <a:avLst>
              <a:gd name="adj" fmla="val 8000"/>
            </a:avLst>
          </a:prstGeom>
          <a:solidFill>
            <a:srgbClr val="2F2F2F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6024395" y="1488026"/>
            <a:ext cx="368572" cy="375397"/>
          </a:xfrm>
          <a:custGeom>
            <a:avLst/>
            <a:gdLst/>
            <a:ahLst/>
            <a:cxnLst/>
            <a:rect l="l" t="t" r="r" b="b"/>
            <a:pathLst>
              <a:path w="514350" h="523875">
                <a:moveTo>
                  <a:pt x="257175" y="266700"/>
                </a:moveTo>
                <a:cubicBezTo>
                  <a:pt x="330518" y="266700"/>
                  <a:pt x="390525" y="206693"/>
                  <a:pt x="390525" y="133350"/>
                </a:cubicBezTo>
                <a:cubicBezTo>
                  <a:pt x="390525" y="60008"/>
                  <a:pt x="330518" y="0"/>
                  <a:pt x="257175" y="0"/>
                </a:cubicBezTo>
                <a:cubicBezTo>
                  <a:pt x="183833" y="0"/>
                  <a:pt x="123825" y="60008"/>
                  <a:pt x="123825" y="133350"/>
                </a:cubicBezTo>
                <a:cubicBezTo>
                  <a:pt x="123825" y="206693"/>
                  <a:pt x="183833" y="266700"/>
                  <a:pt x="257175" y="266700"/>
                </a:cubicBezTo>
                <a:close/>
                <a:moveTo>
                  <a:pt x="457200" y="333375"/>
                </a:moveTo>
                <a:lnTo>
                  <a:pt x="57150" y="333375"/>
                </a:lnTo>
                <a:lnTo>
                  <a:pt x="0" y="390525"/>
                </a:lnTo>
                <a:lnTo>
                  <a:pt x="0" y="523875"/>
                </a:lnTo>
                <a:lnTo>
                  <a:pt x="514350" y="523875"/>
                </a:lnTo>
                <a:lnTo>
                  <a:pt x="514350" y="390525"/>
                </a:lnTo>
                <a:lnTo>
                  <a:pt x="457200" y="333375"/>
                </a:lnTo>
                <a:close/>
                <a:moveTo>
                  <a:pt x="447675" y="457200"/>
                </a:moveTo>
                <a:lnTo>
                  <a:pt x="333375" y="457200"/>
                </a:lnTo>
                <a:lnTo>
                  <a:pt x="333375" y="438150"/>
                </a:lnTo>
                <a:lnTo>
                  <a:pt x="447675" y="438150"/>
                </a:lnTo>
                <a:lnTo>
                  <a:pt x="447675" y="457200"/>
                </a:ln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9" name="AutoShape 9"/>
          <p:cNvSpPr/>
          <p:nvPr/>
        </p:nvSpPr>
        <p:spPr>
          <a:xfrm flipH="1">
            <a:off x="6486251" y="1817685"/>
            <a:ext cx="4332796" cy="102188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动态主题切换无需刷新页面，保证用户操作的流畅性，提供更舒适的视觉体验，增强用户粘性，提高满意度。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86252" y="1485782"/>
            <a:ext cx="433279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动态主题切换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1183" y="3738474"/>
            <a:ext cx="4621818" cy="2483283"/>
          </a:xfrm>
          <a:prstGeom prst="roundRect">
            <a:avLst>
              <a:gd name="adj" fmla="val 8000"/>
            </a:avLst>
          </a:prstGeom>
          <a:solidFill>
            <a:srgbClr val="2F2F2F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Freeform 12"/>
          <p:cNvSpPr/>
          <p:nvPr/>
        </p:nvSpPr>
        <p:spPr>
          <a:xfrm>
            <a:off x="1231020" y="4108084"/>
            <a:ext cx="310205" cy="377641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286102" y="621"/>
                </a:moveTo>
                <a:lnTo>
                  <a:pt x="286102" y="153021"/>
                </a:lnTo>
                <a:lnTo>
                  <a:pt x="438502" y="153021"/>
                </a:lnTo>
                <a:lnTo>
                  <a:pt x="438502" y="534021"/>
                </a:lnTo>
                <a:lnTo>
                  <a:pt x="352" y="534021"/>
                </a:lnTo>
                <a:lnTo>
                  <a:pt x="352" y="621"/>
                </a:lnTo>
                <a:lnTo>
                  <a:pt x="286102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50098" y="314946"/>
                </a:lnTo>
                <a:cubicBezTo>
                  <a:pt x="280673" y="313803"/>
                  <a:pt x="305152" y="288657"/>
                  <a:pt x="305152" y="257796"/>
                </a:cubicBezTo>
                <a:cubicBezTo>
                  <a:pt x="305152" y="226268"/>
                  <a:pt x="279530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9052" y="219696"/>
                  <a:pt x="286102" y="236746"/>
                  <a:pt x="286102" y="257796"/>
                </a:cubicBezTo>
                <a:cubicBezTo>
                  <a:pt x="286102" y="278846"/>
                  <a:pt x="269052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05152" y="133971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chemeClr val="accent1"/>
          </a:solidFill>
        </p:spPr>
      </p:sp>
      <p:sp>
        <p:nvSpPr>
          <p:cNvPr id="13" name="AutoShape 13"/>
          <p:cNvSpPr/>
          <p:nvPr/>
        </p:nvSpPr>
        <p:spPr>
          <a:xfrm flipH="1">
            <a:off x="1651713" y="4463181"/>
            <a:ext cx="3341450" cy="134504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CSS变量驱动主题系统，用户可自由切换深色/浅色主题，满足个性化需求，提升用户体验，增强审美享受。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51713" y="4127628"/>
            <a:ext cx="334145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CSS变量驱动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11" dur="500" spd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15" dur="10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2" dur="1000" spd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26" dur="500" spd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spd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spd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3224068" y="3325377"/>
            <a:ext cx="5731164" cy="424732"/>
          </a:xfrm>
        </p:spPr>
        <p:txBody>
          <a:bodyPr vert="horz" lIns="91440" tIns="45720" rIns="91440" bIns="45720" anchor="t">
            <a:normAutofit/>
          </a:bodyPr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i="0" u="none" baseline="0">
                <a:solidFill>
                  <a:srgbClr val="171A1D"/>
                </a:solidFill>
                <a:latin typeface="SourceSansPro"/>
                <a:ea typeface="SourceSansPro"/>
              </a:rPr>
              <a:t>项目成果与展望</a:t>
            </a:r>
            <a:endParaRPr lang="zh-CN" altLang="en-US" sz="2400" b="1" i="0" u="none" baseline="0">
              <a:solidFill>
                <a:srgbClr val="171A1D"/>
              </a:solidFill>
              <a:latin typeface="SourceSansPro"/>
              <a:ea typeface="SourceSans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3824" y="2030994"/>
            <a:ext cx="1351652" cy="132343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000" b="1" i="0" u="none" spc="100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spd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spd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spd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spd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out)">
                                      <p:cBhvr>
                                        <p:cTn id="13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功能成果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417742" y="1738360"/>
            <a:ext cx="2393540" cy="4127434"/>
          </a:xfrm>
          <a:prstGeom prst="roundRect">
            <a:avLst>
              <a:gd name="adj" fmla="val 9280"/>
            </a:avLst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1227682" y="1518131"/>
            <a:ext cx="440459" cy="440458"/>
          </a:xfrm>
          <a:prstGeom prst="roundRect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60000">
                <a:srgbClr val="2C7767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0" tIns="0" rIns="0" bIns="0" anchor="ctr">
            <a:normAutofit/>
          </a:bodyPr>
          <a:p>
            <a:pPr marL="0" algn="ctr">
              <a:lnSpc>
                <a:spcPct val="120000"/>
              </a:lnSpc>
            </a:pPr>
          </a:p>
        </p:txBody>
      </p:sp>
      <p:sp>
        <p:nvSpPr>
          <p:cNvPr id="5" name="TextBox 5"/>
          <p:cNvSpPr txBox="1"/>
          <p:nvPr/>
        </p:nvSpPr>
        <p:spPr>
          <a:xfrm>
            <a:off x="1417741" y="2062134"/>
            <a:ext cx="239354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完善的用户认证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417741" y="2664718"/>
            <a:ext cx="2393540" cy="932902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0000" tIns="90000" rIns="90000" bIns="90000" anchor="t">
            <a:spAutoFit/>
          </a:bodyPr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提供完整的注册/登录系统，确保用户账户安全，提供个性化服务，满足用户多样化需求，提高用户粘性。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983984" y="1708287"/>
            <a:ext cx="2393540" cy="4127434"/>
          </a:xfrm>
          <a:prstGeom prst="roundRect">
            <a:avLst>
              <a:gd name="adj" fmla="val 9280"/>
            </a:avLst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AutoShape 8"/>
          <p:cNvSpPr/>
          <p:nvPr/>
        </p:nvSpPr>
        <p:spPr>
          <a:xfrm>
            <a:off x="4793926" y="1518131"/>
            <a:ext cx="440459" cy="440458"/>
          </a:xfrm>
          <a:prstGeom prst="roundRect">
            <a:avLst/>
          </a:prstGeom>
          <a:gradFill>
            <a:gsLst>
              <a:gs pos="0">
                <a:srgbClr val="6A806A">
                  <a:lumMod val="60000"/>
                  <a:lumOff val="40000"/>
                </a:srgbClr>
              </a:gs>
              <a:gs pos="60000">
                <a:srgbClr val="6A806A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6">
                <a:alpha val="20000"/>
              </a:schemeClr>
            </a:outerShdw>
          </a:effectLst>
        </p:spPr>
        <p:txBody>
          <a:bodyPr rot="0" vert="horz" wrap="none" lIns="0" tIns="0" rIns="0" bIns="0" anchor="ctr">
            <a:normAutofit/>
          </a:bodyPr>
          <a:p>
            <a:pPr marL="0" algn="ctr">
              <a:lnSpc>
                <a:spcPct val="120000"/>
              </a:lnSpc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983985" y="2062134"/>
            <a:ext cx="239354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流畅的AI文案生成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83985" y="2664718"/>
            <a:ext cx="2393540" cy="1265850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0000" tIns="90000" rIns="90000" bIns="90000" anchor="t">
            <a:spAutoFit/>
          </a:bodyPr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流畅的智能文案生成功能，能够快速产出高质量内容，满足用户对效率的需求，提升创作体验，增强用户信心。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550228" y="1738360"/>
            <a:ext cx="2393540" cy="4127434"/>
          </a:xfrm>
          <a:prstGeom prst="roundRect">
            <a:avLst>
              <a:gd name="adj" fmla="val 9280"/>
            </a:avLst>
          </a:prstGeom>
          <a:solidFill>
            <a:srgbClr val="778495">
              <a:alpha val="1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AutoShape 12"/>
          <p:cNvSpPr/>
          <p:nvPr/>
        </p:nvSpPr>
        <p:spPr>
          <a:xfrm>
            <a:off x="8360168" y="1518131"/>
            <a:ext cx="440459" cy="440458"/>
          </a:xfrm>
          <a:prstGeom prst="roundRect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60000">
                <a:srgbClr val="2C7767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none" lIns="0" tIns="0" rIns="0" bIns="0" anchor="ctr">
            <a:normAutofit/>
          </a:bodyPr>
          <a:p>
            <a:pPr marL="0" algn="ctr">
              <a:lnSpc>
                <a:spcPct val="120000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8550227" y="2062134"/>
            <a:ext cx="239354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完善的对话历史管理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550227" y="2664718"/>
            <a:ext cx="2393540" cy="1265850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0000" tIns="90000" rIns="90000" bIns="90000" anchor="t">
            <a:spAutoFit/>
          </a:bodyPr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提供完善的对话历史系统，方便用户查找和回顾历史记录，有助于优化文案生成效果，满足用户个性化需求。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 spd="1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" dur="5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1" dur="500" spd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spd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9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 spd="1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 spd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911" spd="100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spd="10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spd="100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6" spd="100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2" spd="100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1.0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90" spd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13" spd="100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83" decel="50000" spd="1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 spd="100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83" decel="50000" spd="1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13" spd="100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83" decel="50000" spd="1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13" spd="100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83" decel="50000" spd="1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46" dur="10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 spd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技术成果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4256" y="2514131"/>
            <a:ext cx="10869543" cy="185150"/>
          </a:xfrm>
          <a:prstGeom prst="rightArrow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grpSp>
        <p:nvGrpSpPr>
          <p:cNvPr id="4" name="Group 4"/>
          <p:cNvGrpSpPr/>
          <p:nvPr/>
        </p:nvGrpSpPr>
        <p:grpSpPr>
          <a:xfrm>
            <a:off x="714257" y="1841572"/>
            <a:ext cx="540000" cy="540000"/>
            <a:chOff x="2832175" y="5599496"/>
            <a:chExt cx="540000" cy="540000"/>
          </a:xfrm>
        </p:grpSpPr>
        <p:sp>
          <p:nvSpPr>
            <p:cNvPr id="5" name="TextBox 5"/>
            <p:cNvSpPr txBox="1"/>
            <p:nvPr/>
          </p:nvSpPr>
          <p:spPr>
            <a:xfrm>
              <a:off x="2832175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2989061" y="5731793"/>
              <a:ext cx="226228" cy="275406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79857" y="1841572"/>
            <a:ext cx="540000" cy="540000"/>
            <a:chOff x="3708127" y="5599496"/>
            <a:chExt cx="540000" cy="540000"/>
          </a:xfrm>
        </p:grpSpPr>
        <p:sp>
          <p:nvSpPr>
            <p:cNvPr id="8" name="TextBox 8"/>
            <p:cNvSpPr txBox="1"/>
            <p:nvPr/>
          </p:nvSpPr>
          <p:spPr>
            <a:xfrm>
              <a:off x="3708127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778495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50260" y="5734252"/>
              <a:ext cx="255734" cy="270488"/>
            </a:xfrm>
            <a:custGeom>
              <a:avLst/>
              <a:gdLst/>
              <a:ahLst/>
              <a:cxnLst/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45457" y="1841572"/>
            <a:ext cx="540000" cy="540000"/>
            <a:chOff x="4584079" y="5599496"/>
            <a:chExt cx="540000" cy="540000"/>
          </a:xfrm>
        </p:grpSpPr>
        <p:sp>
          <p:nvSpPr>
            <p:cNvPr id="11" name="TextBox 11"/>
            <p:cNvSpPr txBox="1"/>
            <p:nvPr/>
          </p:nvSpPr>
          <p:spPr>
            <a:xfrm>
              <a:off x="4584079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4716376" y="5766219"/>
              <a:ext cx="275406" cy="206554"/>
            </a:xfrm>
            <a:custGeom>
              <a:avLst/>
              <a:gdLst/>
              <a:ahLst/>
              <a:cxnLst/>
              <a:rect l="l" t="t" r="r" b="b"/>
              <a:pathLst>
                <a:path w="533400" h="400050">
                  <a:moveTo>
                    <a:pt x="505433" y="621"/>
                  </a:moveTo>
                  <a:cubicBezTo>
                    <a:pt x="521626" y="621"/>
                    <a:pt x="534008" y="13004"/>
                    <a:pt x="534008" y="29196"/>
                  </a:cubicBezTo>
                  <a:lnTo>
                    <a:pt x="534008" y="372096"/>
                  </a:lnTo>
                  <a:cubicBezTo>
                    <a:pt x="534008" y="388289"/>
                    <a:pt x="521626" y="400671"/>
                    <a:pt x="505433" y="400671"/>
                  </a:cubicBezTo>
                  <a:lnTo>
                    <a:pt x="29183" y="400671"/>
                  </a:lnTo>
                  <a:cubicBezTo>
                    <a:pt x="12990" y="400671"/>
                    <a:pt x="608" y="388289"/>
                    <a:pt x="608" y="372096"/>
                  </a:cubicBezTo>
                  <a:lnTo>
                    <a:pt x="608" y="29196"/>
                  </a:lnTo>
                  <a:cubicBezTo>
                    <a:pt x="608" y="13004"/>
                    <a:pt x="12990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133" y="198741"/>
                  </a:moveTo>
                  <a:cubicBezTo>
                    <a:pt x="378751" y="189216"/>
                    <a:pt x="360653" y="192074"/>
                    <a:pt x="351128" y="204456"/>
                  </a:cubicBezTo>
                  <a:lnTo>
                    <a:pt x="351128" y="204456"/>
                  </a:lnTo>
                  <a:lnTo>
                    <a:pt x="267308" y="315899"/>
                  </a:lnTo>
                  <a:cubicBezTo>
                    <a:pt x="266355" y="316851"/>
                    <a:pt x="265403" y="317804"/>
                    <a:pt x="264451" y="318756"/>
                  </a:cubicBezTo>
                  <a:cubicBezTo>
                    <a:pt x="253021" y="330186"/>
                    <a:pt x="234923" y="330186"/>
                    <a:pt x="224446" y="318756"/>
                  </a:cubicBezTo>
                  <a:lnTo>
                    <a:pt x="224446" y="318756"/>
                  </a:lnTo>
                  <a:lnTo>
                    <a:pt x="162533" y="257796"/>
                  </a:lnTo>
                  <a:cubicBezTo>
                    <a:pt x="161580" y="256844"/>
                    <a:pt x="161580" y="256844"/>
                    <a:pt x="160628" y="255891"/>
                  </a:cubicBezTo>
                  <a:cubicBezTo>
                    <a:pt x="148246" y="245414"/>
                    <a:pt x="130148" y="247319"/>
                    <a:pt x="120623" y="259701"/>
                  </a:cubicBezTo>
                  <a:lnTo>
                    <a:pt x="120623" y="259701"/>
                  </a:lnTo>
                  <a:lnTo>
                    <a:pt x="32993" y="366381"/>
                  </a:lnTo>
                  <a:cubicBezTo>
                    <a:pt x="32040" y="368286"/>
                    <a:pt x="31088" y="370191"/>
                    <a:pt x="31088" y="372096"/>
                  </a:cubicBezTo>
                  <a:cubicBezTo>
                    <a:pt x="31088" y="377811"/>
                    <a:pt x="34898" y="381621"/>
                    <a:pt x="40613" y="381621"/>
                  </a:cubicBezTo>
                  <a:lnTo>
                    <a:pt x="40613" y="381621"/>
                  </a:lnTo>
                  <a:lnTo>
                    <a:pt x="497813" y="381621"/>
                  </a:lnTo>
                  <a:cubicBezTo>
                    <a:pt x="499718" y="381621"/>
                    <a:pt x="501623" y="380669"/>
                    <a:pt x="503528" y="379716"/>
                  </a:cubicBezTo>
                  <a:cubicBezTo>
                    <a:pt x="508290" y="376859"/>
                    <a:pt x="509243" y="371144"/>
                    <a:pt x="506386" y="366381"/>
                  </a:cubicBezTo>
                  <a:lnTo>
                    <a:pt x="506386" y="366381"/>
                  </a:lnTo>
                  <a:lnTo>
                    <a:pt x="398753" y="205409"/>
                  </a:lnTo>
                  <a:cubicBezTo>
                    <a:pt x="395896" y="202551"/>
                    <a:pt x="393990" y="200646"/>
                    <a:pt x="391133" y="198741"/>
                  </a:cubicBezTo>
                  <a:close/>
                  <a:moveTo>
                    <a:pt x="95858" y="57771"/>
                  </a:moveTo>
                  <a:cubicBezTo>
                    <a:pt x="74903" y="57771"/>
                    <a:pt x="57758" y="74916"/>
                    <a:pt x="57758" y="95871"/>
                  </a:cubicBezTo>
                  <a:cubicBezTo>
                    <a:pt x="57758" y="116826"/>
                    <a:pt x="74903" y="133971"/>
                    <a:pt x="95858" y="133971"/>
                  </a:cubicBezTo>
                  <a:cubicBezTo>
                    <a:pt x="116813" y="133971"/>
                    <a:pt x="133958" y="116826"/>
                    <a:pt x="133958" y="95871"/>
                  </a:cubicBezTo>
                  <a:cubicBezTo>
                    <a:pt x="133958" y="74916"/>
                    <a:pt x="116813" y="57771"/>
                    <a:pt x="95858" y="577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14256" y="2961801"/>
            <a:ext cx="26306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现代化架构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14256" y="3465912"/>
            <a:ext cx="2630630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采用前后端分离的现代化架构，易于维护和扩展，提高开发效率，降低维护成本，保证系统长期稳定运行。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33015" y="2961801"/>
            <a:ext cx="26306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高质量代码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833015" y="3465912"/>
            <a:ext cx="2630630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清晰的代码结构和完善的文档，便于团队协作和后续维护，保证代码质量，降低出错率，提高开发效率。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888682" y="2948641"/>
            <a:ext cx="26306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性能优化策略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888682" y="3452752"/>
            <a:ext cx="2630630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实施多层次的性能优化策略，保证系统高效稳定运行，提供流畅的用户体验，增强用户满意度，树立良好口碑。</a:t>
            </a:r>
            <a:endParaRPr lang="en-US" sz="110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2000" spd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spd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2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fltVal val="-90.0"/>
                                          </p:val>
                                        </p:tav>
                                        <p:tav tm="100000" fmla="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accel="50000" spd="1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spd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50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accel="50000" spd="1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 decel="50000" spd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28" dur="500" spd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spd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 spd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spd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spd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in)">
                                      <p:cBhvr>
                                        <p:cTn id="44" dur="1000" spd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660400" y="0"/>
            <a:ext cx="10858500" cy="1028700"/>
          </a:xfr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未来展望</a:t>
            </a:r>
            <a:endParaRPr lang="zh-CN" altLang="en-US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2232329" y="4424203"/>
            <a:ext cx="6871819" cy="1423704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2312364" y="4551867"/>
            <a:ext cx="1168118" cy="1167537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en-GB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3</a:t>
            </a:r>
            <a:endParaRPr lang="en-GB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528412" y="4823320"/>
            <a:ext cx="5264713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探索付费功能、企业版服务和API开放平台等商业模式，实现项目商业价值，为可持续发展提供保障，形成良性循环。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3528412" y="4538604"/>
            <a:ext cx="526471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商业化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flipH="1">
            <a:off x="4608210" y="2833433"/>
            <a:ext cx="6801817" cy="1423704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AutoShape 8"/>
          <p:cNvSpPr/>
          <p:nvPr/>
        </p:nvSpPr>
        <p:spPr>
          <a:xfrm>
            <a:off x="4688535" y="2961936"/>
            <a:ext cx="1167537" cy="1167537"/>
          </a:xfrm>
          <a:prstGeom prst="ellipse">
            <a:avLst/>
          </a:prstGeom>
          <a:gradFill>
            <a:gsLst>
              <a:gs pos="0">
                <a:srgbClr val="1C9A62">
                  <a:lumMod val="60000"/>
                  <a:lumOff val="40000"/>
                </a:srgbClr>
              </a:gs>
              <a:gs pos="50000">
                <a:srgbClr val="1C9A62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2">
                <a:alpha val="20000"/>
              </a:schemeClr>
            </a:outerShdw>
          </a:effectLst>
        </p:spPr>
        <p:txBody>
          <a:bodyPr vert="horz" lIns="0" tIns="0" rIns="0" bIns="0" anchor="ctr">
            <a:normAutofit/>
          </a:bodyPr>
          <a:p>
            <a:pPr marL="0" algn="ctr"/>
            <a:r>
              <a:rPr lang="en-GB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2</a:t>
            </a:r>
            <a:endParaRPr lang="en-GB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16946" y="3225821"/>
            <a:ext cx="5264713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升级为微服务架构，采用容器化部署，进行云原生优化，提高系统的可扩展性和可靠性，降低运维成本。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016946" y="2958798"/>
            <a:ext cx="526471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技术升级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1">
            <a:off x="2232330" y="1242664"/>
            <a:ext cx="6871820" cy="1423704"/>
          </a:xfrm>
          <a:prstGeom prst="roundRect">
            <a:avLst>
              <a:gd name="adj" fmla="val 50000"/>
            </a:avLst>
          </a:prstGeom>
          <a:solidFill>
            <a:srgbClr val="778495">
              <a:alpha val="1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AutoShape 12"/>
          <p:cNvSpPr/>
          <p:nvPr/>
        </p:nvSpPr>
        <p:spPr>
          <a:xfrm>
            <a:off x="2312654" y="1371167"/>
            <a:ext cx="1167537" cy="1167537"/>
          </a:xfrm>
          <a:prstGeom prst="ellipse">
            <a:avLst/>
          </a:prstGeom>
          <a:gradFill>
            <a:gsLst>
              <a:gs pos="0">
                <a:srgbClr val="2C7767">
                  <a:lumMod val="60000"/>
                  <a:lumOff val="40000"/>
                </a:srgbClr>
              </a:gs>
              <a:gs pos="50000">
                <a:srgbClr val="2C7767"/>
              </a:gs>
            </a:gsLst>
            <a:lin ang="2700000"/>
          </a:gradFill>
          <a:ln cap="flat" cmpd="sng">
            <a:prstDash val="solid"/>
          </a:ln>
          <a:effectLst>
            <a:outerShdw blurRad="177800" dist="152400" dir="2700000" algn="tl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p>
            <a:pPr marL="0" algn="ctr"/>
            <a:r>
              <a:rPr lang="en-GB" sz="32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1</a:t>
            </a:r>
            <a:endParaRPr lang="en-GB" sz="32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528412" y="1635052"/>
            <a:ext cx="5264712" cy="405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30000"/>
              </a:lnSpc>
              <a:defRPr/>
            </a:pPr>
            <a:r>
              <a:rPr lang="zh-CN" altLang="en-US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支持多平台（抖音、微博等），集成图片生成，增加数据分析功能，满足用户多样化需求，提升平台竞争力。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3528412" y="1340434"/>
            <a:ext cx="526471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功能扩展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 spd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15" dur="500" spd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9" dur="500" spd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4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spd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50000" spd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5000" fmla="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 fmla="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 fmla="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 fmla="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 fmla="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 fmla="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 fmla="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 fmla="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 fmla="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 fmla="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 fmla="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 fmla="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 fmla="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 fmla="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 fmla="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 fmla="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 fmla="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 fmla="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spd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 fmla="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 fmla="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 fmla="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 fmla="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 fmla="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 fmla="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 fmla="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 fmla="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 fmla="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 fmla="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 fmla="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 fmla="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 fmla="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 fmla="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 fmla="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 fmla="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 fmla="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 fmla="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" spd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35" dur="500" spd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43" dur="500" spd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5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47" dur="1000" spd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"/>
          </p:nvPr>
        </p:nvSpPr>
        <p:spPr>
          <a:xfrm>
            <a:off x="673098" y="2301078"/>
            <a:ext cx="10858500" cy="1439368"/>
          </a:xfrm>
        </p:spPr>
        <p:txBody>
          <a:bodyPr vert="horz" lIns="91440" tIns="45720" rIns="91440" bIns="45720" anchor="b">
            <a:normAutofit/>
          </a:bodyPr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4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Thank you for </a:t>
            </a:r>
            <a:endParaRPr lang="en-GB" sz="4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GB" sz="44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watching</a:t>
            </a:r>
            <a:endParaRPr lang="en-GB" sz="44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35000" y="757482"/>
            <a:ext cx="559769" cy="276999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r">
              <a:defRPr/>
            </a:pPr>
            <a:r>
              <a:rPr lang="en-US" sz="1200" b="0" i="0" u="none" baseline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445003" y="4154545"/>
            <a:ext cx="3289294" cy="558799"/>
          </a:xfrm>
          <a:prstGeom prst="roundRect">
            <a:avLst>
              <a:gd name="adj" fmla="val 50000"/>
            </a:avLst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90000"/>
              </a:lnSpc>
              <a:defRPr/>
            </a:pPr>
            <a:r>
              <a:rPr lang="en-US" sz="1800" b="0" i="0" u="none" baseline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汇报人：王佳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spd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 fmla="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spd="1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spd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C7767"/>
      </a:accent1>
      <a:accent2>
        <a:srgbClr val="1C9A62"/>
      </a:accent2>
      <a:accent3>
        <a:srgbClr val="7BBB79"/>
      </a:accent3>
      <a:accent4>
        <a:srgbClr val="02BE95"/>
      </a:accent4>
      <a:accent5>
        <a:srgbClr val="84A084"/>
      </a:accent5>
      <a:accent6>
        <a:srgbClr val="6A806A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2675</Words>
  <Application>WPS 演示</Application>
  <PresentationFormat>全屏显示(4:3)</PresentationFormat>
  <Paragraphs>313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SourceSansPro</vt:lpstr>
      <vt:lpstr>Segoe Print</vt:lpstr>
      <vt:lpstr>Calibri</vt:lpstr>
      <vt:lpstr>Arial Unicode MS</vt:lpstr>
      <vt:lpstr>Office Theme</vt:lpstr>
      <vt:lpstr>小红书爆款文案助手</vt:lpstr>
      <vt:lpstr>PowerPoint 演示文稿</vt:lpstr>
      <vt:lpstr>项目概述</vt:lpstr>
      <vt:lpstr>项目背景</vt:lpstr>
      <vt:lpstr>项目价值</vt:lpstr>
      <vt:lpstr>技术架构</vt:lpstr>
      <vt:lpstr>整体架构</vt:lpstr>
      <vt:lpstr>前端技术栈</vt:lpstr>
      <vt:lpstr>后端技术栈</vt:lpstr>
      <vt:lpstr>核心功能演示</vt:lpstr>
      <vt:lpstr>用户认证系统</vt:lpstr>
      <vt:lpstr>智能文案生成</vt:lpstr>
      <vt:lpstr>对话历史管理</vt:lpstr>
      <vt:lpstr>技术创新点</vt:lpstr>
      <vt:lpstr>混合存储架构</vt:lpstr>
      <vt:lpstr>流式AI响应优化</vt:lpstr>
      <vt:lpstr>上下文记忆系统</vt:lpstr>
      <vt:lpstr>自适应主题系统</vt:lpstr>
      <vt:lpstr>项目成果与展望</vt:lpstr>
      <vt:lpstr>功能成果</vt:lpstr>
      <vt:lpstr>技术成果</vt:lpstr>
      <vt:lpstr>未来展望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星辰</cp:lastModifiedBy>
  <cp:revision>3</cp:revision>
  <dcterms:created xsi:type="dcterms:W3CDTF">2025-10-23T15:29:00Z</dcterms:created>
  <dcterms:modified xsi:type="dcterms:W3CDTF">2025-10-24T03:04:27Z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{"ContentPropagator":"文多多","Label":"1","ReservedCode1":"1761233350247","ProduceID":"wenduoduo-pptx-1761233350247","ReservedCode2":"1761233350247","PropagateID":"wenduoduo-pptx1761233350247","ContentProducer":"文多多"}</vt:lpwstr>
  </property>
  <property fmtid="{D5CDD505-2E9C-101B-9397-08002B2CF9AE}" pid="5" name="ICV">
    <vt:lpwstr>24B43423ED634815A56F0C8591F51F5C_12</vt:lpwstr>
  </property>
  <property fmtid="{D5CDD505-2E9C-101B-9397-08002B2CF9AE}" pid="6" name="KSOProductBuildVer">
    <vt:lpwstr>2052-12.1.0.23125</vt:lpwstr>
  </property>
</Properties>
</file>